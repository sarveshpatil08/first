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4630400" cy="8229600"/>
  <p:notesSz cx="8229600" cy="14630400"/>
  <p:embeddedFontLst>
    <p:embeddedFont>
      <p:font typeface="Petrona"/>
      <p:regular r:id="rId31"/>
    </p:embeddedFont>
    <p:embeddedFont>
      <p:font typeface="Petrona"/>
      <p:regular r:id="rId32"/>
    </p:embeddedFont>
    <p:embeddedFont>
      <p:font typeface="Petrona"/>
      <p:regular r:id="rId33"/>
    </p:embeddedFont>
    <p:embeddedFont>
      <p:font typeface="Petrona"/>
      <p:regular r:id="rId34"/>
    </p:embeddedFont>
    <p:embeddedFont>
      <p:font typeface="Inter"/>
      <p:regular r:id="rId35"/>
    </p:embeddedFont>
    <p:embeddedFont>
      <p:font typeface="Inter"/>
      <p:regular r:id="rId36"/>
    </p:embeddedFont>
    <p:embeddedFont>
      <p:font typeface="Inter"/>
      <p:regular r:id="rId37"/>
    </p:embeddedFont>
    <p:embeddedFont>
      <p:font typeface="Inter"/>
      <p:regular r:id="rId38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Relationship Id="rId31" Type="http://schemas.openxmlformats.org/officeDocument/2006/relationships/font" Target="fonts/font1.fntdata"/><Relationship Id="rId32" Type="http://schemas.openxmlformats.org/officeDocument/2006/relationships/font" Target="fonts/font2.fntdata"/><Relationship Id="rId33" Type="http://schemas.openxmlformats.org/officeDocument/2006/relationships/font" Target="fonts/font3.fntdata"/><Relationship Id="rId34" Type="http://schemas.openxmlformats.org/officeDocument/2006/relationships/font" Target="fonts/font4.fntdata"/><Relationship Id="rId35" Type="http://schemas.openxmlformats.org/officeDocument/2006/relationships/font" Target="fonts/font5.fntdata"/><Relationship Id="rId36" Type="http://schemas.openxmlformats.org/officeDocument/2006/relationships/font" Target="fonts/font6.fntdata"/><Relationship Id="rId37" Type="http://schemas.openxmlformats.org/officeDocument/2006/relationships/font" Target="fonts/font7.fntdata"/><Relationship Id="rId38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2" Type="http://schemas.openxmlformats.org/officeDocument/2006/relationships/image" Target="../media/image-1003-2.png"/><Relationship Id="rId4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2" Type="http://schemas.openxmlformats.org/officeDocument/2006/relationships/image" Target="../media/image-1004-2.png"/><Relationship Id="rId4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2" Type="http://schemas.openxmlformats.org/officeDocument/2006/relationships/image" Target="../media/image-1005-2.png"/><Relationship Id="rId4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2" Type="http://schemas.openxmlformats.org/officeDocument/2006/relationships/image" Target="../media/image-1006-2.png"/><Relationship Id="rId4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2" Type="http://schemas.openxmlformats.org/officeDocument/2006/relationships/image" Target="../media/image-1007-2.png"/><Relationship Id="rId4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2" Type="http://schemas.openxmlformats.org/officeDocument/2006/relationships/image" Target="../media/image-1008-2.png"/><Relationship Id="rId4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2" Type="http://schemas.openxmlformats.org/officeDocument/2006/relationships/image" Target="../media/image-1009-2.png"/><Relationship Id="rId4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2" Type="http://schemas.openxmlformats.org/officeDocument/2006/relationships/image" Target="../media/image-1010-2.png"/><Relationship Id="rId4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2" Type="http://schemas.openxmlformats.org/officeDocument/2006/relationships/image" Target="../media/image-1011-2.png"/><Relationship Id="rId4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2-1.png"/><Relationship Id="rId2" Type="http://schemas.openxmlformats.org/officeDocument/2006/relationships/image" Target="../media/image-1012-2.png"/><Relationship Id="rId4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3-1.png"/><Relationship Id="rId2" Type="http://schemas.openxmlformats.org/officeDocument/2006/relationships/image" Target="../media/image-1013-2.png"/><Relationship Id="rId4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4-1.png"/><Relationship Id="rId2" Type="http://schemas.openxmlformats.org/officeDocument/2006/relationships/image" Target="../media/image-1014-2.png"/><Relationship Id="rId4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5-1.png"/><Relationship Id="rId2" Type="http://schemas.openxmlformats.org/officeDocument/2006/relationships/image" Target="../media/image-1015-2.png"/><Relationship Id="rId4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6-1.png"/><Relationship Id="rId2" Type="http://schemas.openxmlformats.org/officeDocument/2006/relationships/image" Target="../media/image-1016-2.png"/><Relationship Id="rId4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7-1.png"/><Relationship Id="rId2" Type="http://schemas.openxmlformats.org/officeDocument/2006/relationships/image" Target="../media/image-1017-2.png"/><Relationship Id="rId4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8-1.png"/><Relationship Id="rId2" Type="http://schemas.openxmlformats.org/officeDocument/2006/relationships/image" Target="../media/image-1018-2.png"/><Relationship Id="rId4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9-1.png"/><Relationship Id="rId2" Type="http://schemas.openxmlformats.org/officeDocument/2006/relationships/image" Target="../media/image-1019-2.png"/><Relationship Id="rId4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20-1.png"/><Relationship Id="rId2" Type="http://schemas.openxmlformats.org/officeDocument/2006/relationships/image" Target="../media/image-1020-2.png"/><Relationship Id="rId4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21-1.png"/><Relationship Id="rId2" Type="http://schemas.openxmlformats.org/officeDocument/2006/relationships/image" Target="../media/image-1021-2.png"/><Relationship Id="rId4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22-1.png"/><Relationship Id="rId2" Type="http://schemas.openxmlformats.org/officeDocument/2006/relationships/image" Target="../media/image-1022-2.png"/><Relationship Id="rId4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23-1.png"/><Relationship Id="rId2" Type="http://schemas.openxmlformats.org/officeDocument/2006/relationships/image" Target="../media/image-1023-2.png"/><Relationship Id="rId4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24-1.png"/><Relationship Id="rId2" Type="http://schemas.openxmlformats.org/officeDocument/2006/relationships/image" Target="../media/image-1024-2.png"/><Relationship Id="rId4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25-1.png"/><Relationship Id="rId2" Type="http://schemas.openxmlformats.org/officeDocument/2006/relationships/image" Target="../media/image-1025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524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524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524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524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524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524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524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524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524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524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524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524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524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524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524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524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524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524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524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524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524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524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524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524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6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sv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sv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image" Target="../media/image-8-9.svg"/><Relationship Id="rId10" Type="http://schemas.openxmlformats.org/officeDocument/2006/relationships/slideLayout" Target="../slideLayouts/slideLayout9.xml"/><Relationship Id="rId11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0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svg"/><Relationship Id="rId4" Type="http://schemas.openxmlformats.org/officeDocument/2006/relationships/image" Target="../media/image-17-4.png"/><Relationship Id="rId5" Type="http://schemas.openxmlformats.org/officeDocument/2006/relationships/image" Target="../media/image-17-5.png"/><Relationship Id="rId6" Type="http://schemas.openxmlformats.org/officeDocument/2006/relationships/image" Target="../media/image-17-6.svg"/><Relationship Id="rId7" Type="http://schemas.openxmlformats.org/officeDocument/2006/relationships/image" Target="../media/image-17-7.png"/><Relationship Id="rId8" Type="http://schemas.openxmlformats.org/officeDocument/2006/relationships/image" Target="../media/image-17-8.png"/><Relationship Id="rId9" Type="http://schemas.openxmlformats.org/officeDocument/2006/relationships/image" Target="../media/image-17-9.svg"/><Relationship Id="rId10" Type="http://schemas.openxmlformats.org/officeDocument/2006/relationships/image" Target="../media/image-17-10.png"/><Relationship Id="rId11" Type="http://schemas.openxmlformats.org/officeDocument/2006/relationships/image" Target="../media/image-17-11.png"/><Relationship Id="rId12" Type="http://schemas.openxmlformats.org/officeDocument/2006/relationships/image" Target="../media/image-17-12.svg"/><Relationship Id="rId13" Type="http://schemas.openxmlformats.org/officeDocument/2006/relationships/slideLayout" Target="../slideLayouts/slideLayout18.xml"/><Relationship Id="rId1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image" Target="../media/image-18-5.png"/><Relationship Id="rId6" Type="http://schemas.openxmlformats.org/officeDocument/2006/relationships/slideLayout" Target="../slideLayouts/slideLayout19.xml"/><Relationship Id="rId7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svg"/><Relationship Id="rId4" Type="http://schemas.openxmlformats.org/officeDocument/2006/relationships/image" Target="../media/image-19-4.png"/><Relationship Id="rId5" Type="http://schemas.openxmlformats.org/officeDocument/2006/relationships/image" Target="../media/image-19-5.png"/><Relationship Id="rId6" Type="http://schemas.openxmlformats.org/officeDocument/2006/relationships/image" Target="../media/image-19-6.svg"/><Relationship Id="rId7" Type="http://schemas.openxmlformats.org/officeDocument/2006/relationships/image" Target="../media/image-19-7.png"/><Relationship Id="rId8" Type="http://schemas.openxmlformats.org/officeDocument/2006/relationships/image" Target="../media/image-19-8.png"/><Relationship Id="rId9" Type="http://schemas.openxmlformats.org/officeDocument/2006/relationships/image" Target="../media/image-19-9.svg"/><Relationship Id="rId10" Type="http://schemas.openxmlformats.org/officeDocument/2006/relationships/image" Target="../media/image-19-10.png"/><Relationship Id="rId11" Type="http://schemas.openxmlformats.org/officeDocument/2006/relationships/image" Target="../media/image-19-11.png"/><Relationship Id="rId12" Type="http://schemas.openxmlformats.org/officeDocument/2006/relationships/image" Target="../media/image-19-12.svg"/><Relationship Id="rId13" Type="http://schemas.openxmlformats.org/officeDocument/2006/relationships/slideLayout" Target="../slideLayouts/slideLayout20.xml"/><Relationship Id="rId1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svg"/><Relationship Id="rId4" Type="http://schemas.openxmlformats.org/officeDocument/2006/relationships/image" Target="../media/image-20-4.png"/><Relationship Id="rId5" Type="http://schemas.openxmlformats.org/officeDocument/2006/relationships/image" Target="../media/image-20-5.png"/><Relationship Id="rId6" Type="http://schemas.openxmlformats.org/officeDocument/2006/relationships/image" Target="../media/image-20-6.svg"/><Relationship Id="rId7" Type="http://schemas.openxmlformats.org/officeDocument/2006/relationships/image" Target="../media/image-20-7.png"/><Relationship Id="rId8" Type="http://schemas.openxmlformats.org/officeDocument/2006/relationships/image" Target="../media/image-20-8.png"/><Relationship Id="rId9" Type="http://schemas.openxmlformats.org/officeDocument/2006/relationships/image" Target="../media/image-20-9.svg"/><Relationship Id="rId10" Type="http://schemas.openxmlformats.org/officeDocument/2006/relationships/image" Target="../media/image-20-10.png"/><Relationship Id="rId11" Type="http://schemas.openxmlformats.org/officeDocument/2006/relationships/image" Target="../media/image-20-11.png"/><Relationship Id="rId12" Type="http://schemas.openxmlformats.org/officeDocument/2006/relationships/image" Target="../media/image-20-12.svg"/><Relationship Id="rId13" Type="http://schemas.openxmlformats.org/officeDocument/2006/relationships/slideLayout" Target="../slideLayouts/slideLayout21.xml"/><Relationship Id="rId1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svg"/><Relationship Id="rId4" Type="http://schemas.openxmlformats.org/officeDocument/2006/relationships/image" Target="../media/image-22-4.png"/><Relationship Id="rId5" Type="http://schemas.openxmlformats.org/officeDocument/2006/relationships/image" Target="../media/image-22-5.svg"/><Relationship Id="rId6" Type="http://schemas.openxmlformats.org/officeDocument/2006/relationships/image" Target="../media/image-22-6.png"/><Relationship Id="rId7" Type="http://schemas.openxmlformats.org/officeDocument/2006/relationships/image" Target="../media/image-22-7.svg"/><Relationship Id="rId8" Type="http://schemas.openxmlformats.org/officeDocument/2006/relationships/image" Target="../media/image-22-8.png"/><Relationship Id="rId9" Type="http://schemas.openxmlformats.org/officeDocument/2006/relationships/image" Target="../media/image-22-9.svg"/><Relationship Id="rId10" Type="http://schemas.openxmlformats.org/officeDocument/2006/relationships/slideLayout" Target="../slideLayouts/slideLayout23.xml"/><Relationship Id="rId11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24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25.xml"/><Relationship Id="rId3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465427"/>
            <a:ext cx="7556421" cy="22327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850"/>
              </a:lnSpc>
              <a:buNone/>
            </a:pPr>
            <a:r>
              <a:rPr lang="en-US" sz="465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Zomato Profitability Case FY 2025: Strategic Insights &amp; Financial Performance</a:t>
            </a:r>
            <a:endParaRPr lang="en-US" sz="4650" dirty="0"/>
          </a:p>
        </p:txBody>
      </p:sp>
      <p:sp>
        <p:nvSpPr>
          <p:cNvPr id="4" name="Text 1"/>
          <p:cNvSpPr/>
          <p:nvPr/>
        </p:nvSpPr>
        <p:spPr>
          <a:xfrm>
            <a:off x="793790" y="5038368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 in-depth analysis of Zomato's remarkable journey towards sustained profitability and its strategic outlook for the future.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68598" y="1214676"/>
            <a:ext cx="979765" cy="310158"/>
          </a:xfrm>
          <a:prstGeom prst="roundRect">
            <a:avLst>
              <a:gd name="adj" fmla="val 19301"/>
            </a:avLst>
          </a:prstGeom>
          <a:solidFill>
            <a:srgbClr val="1C113B"/>
          </a:solidFill>
          <a:ln/>
        </p:spPr>
      </p:sp>
      <p:sp>
        <p:nvSpPr>
          <p:cNvPr id="3" name="Text 1"/>
          <p:cNvSpPr/>
          <p:nvPr/>
        </p:nvSpPr>
        <p:spPr>
          <a:xfrm>
            <a:off x="1275398" y="1268016"/>
            <a:ext cx="766167" cy="2034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CHAPTER 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168598" y="1580793"/>
            <a:ext cx="3741420" cy="4675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650"/>
              </a:lnSpc>
              <a:buNone/>
            </a:pPr>
            <a:r>
              <a:rPr lang="en-US" sz="290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Executive Summary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1168598" y="2566988"/>
            <a:ext cx="4020145" cy="4215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000"/>
              </a:lnSpc>
              <a:buSzPct val="100000"/>
              <a:buChar char="•"/>
            </a:pPr>
            <a:r>
              <a:rPr lang="en-US" sz="14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Zomato is scaling rapidly across Food Delivery, Blinkit, and Hyperpure, crossing ~Rs 20,500 Cr in FY25 revenue, but profitability remains fragile due to expansion-heavy economics.</a:t>
            </a:r>
            <a:endParaRPr lang="en-US" sz="1400" dirty="0"/>
          </a:p>
          <a:p>
            <a:pPr algn="l" marL="342900" indent="-342900">
              <a:lnSpc>
                <a:spcPts val="2000"/>
              </a:lnSpc>
              <a:buSzPct val="100000"/>
              <a:buChar char="•"/>
            </a:pPr>
            <a:r>
              <a:rPr lang="en-US" sz="14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Blinkit and Hyperpure are driving top-line growth, while per-order margins in core food delivery remain thin at ~4–8% after variable costs.</a:t>
            </a:r>
            <a:endParaRPr lang="en-US" sz="1400" dirty="0"/>
          </a:p>
          <a:p>
            <a:pPr algn="l" marL="342900" indent="-342900">
              <a:lnSpc>
                <a:spcPts val="2000"/>
              </a:lnSpc>
              <a:buSzPct val="100000"/>
              <a:buChar char="•"/>
            </a:pPr>
            <a:r>
              <a:rPr lang="en-US" sz="14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Unit economics are positive but highly sensitive to discounts, delivery costs, and customer retention.</a:t>
            </a:r>
            <a:endParaRPr lang="en-US" sz="1400" dirty="0"/>
          </a:p>
          <a:p>
            <a:pPr algn="l" marL="342900" indent="-342900">
              <a:lnSpc>
                <a:spcPts val="2000"/>
              </a:lnSpc>
              <a:buSzPct val="100000"/>
              <a:buChar char="•"/>
            </a:pPr>
            <a:r>
              <a:rPr lang="en-US" sz="14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Clear levers exist in discounts, batching, subscription monetisation, and segment focus to move from “growth at all costs” to “profitable growth.”</a:t>
            </a:r>
            <a:endParaRPr lang="en-US" sz="14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30942" y="2415659"/>
            <a:ext cx="7838480" cy="444174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88475" y="964049"/>
            <a:ext cx="857845" cy="252413"/>
          </a:xfrm>
          <a:prstGeom prst="roundRect">
            <a:avLst>
              <a:gd name="adj" fmla="val 20167"/>
            </a:avLst>
          </a:prstGeom>
          <a:solidFill>
            <a:srgbClr val="1C113B"/>
          </a:solidFill>
          <a:ln/>
        </p:spPr>
      </p:sp>
      <p:sp>
        <p:nvSpPr>
          <p:cNvPr id="3" name="Text 1"/>
          <p:cNvSpPr/>
          <p:nvPr/>
        </p:nvSpPr>
        <p:spPr>
          <a:xfrm>
            <a:off x="2179320" y="1009412"/>
            <a:ext cx="676156" cy="161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CHAPTER 2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2088475" y="1256824"/>
            <a:ext cx="3181469" cy="3976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250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Financials FY 2025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3098959" y="2544723"/>
            <a:ext cx="1378863" cy="2802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22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₹20,243Cr</a:t>
            </a:r>
            <a:endParaRPr lang="en-US" sz="22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47630" y="1844040"/>
            <a:ext cx="1681639" cy="168163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773323" y="3664625"/>
            <a:ext cx="2030373" cy="2484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Consolidated Revenue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2088475" y="3973711"/>
            <a:ext cx="3400068" cy="202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remarkable 56% YoY growth.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6625590" y="2544723"/>
            <a:ext cx="1378863" cy="2802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22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₹527Cr</a:t>
            </a:r>
            <a:endParaRPr lang="en-US" sz="22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4262" y="1844040"/>
            <a:ext cx="1681639" cy="1681639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320909" y="3664625"/>
            <a:ext cx="1988344" cy="2484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Profit After Tax (PAT)</a:t>
            </a:r>
            <a:endParaRPr lang="en-US" sz="1550" dirty="0"/>
          </a:p>
        </p:txBody>
      </p:sp>
      <p:sp>
        <p:nvSpPr>
          <p:cNvPr id="12" name="Text 8"/>
          <p:cNvSpPr/>
          <p:nvPr/>
        </p:nvSpPr>
        <p:spPr>
          <a:xfrm>
            <a:off x="5614988" y="3973711"/>
            <a:ext cx="3400187" cy="202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Sharp turnaround from previous losses.</a:t>
            </a:r>
            <a:endParaRPr lang="en-US" sz="1150" dirty="0"/>
          </a:p>
        </p:txBody>
      </p:sp>
      <p:sp>
        <p:nvSpPr>
          <p:cNvPr id="13" name="Text 9"/>
          <p:cNvSpPr/>
          <p:nvPr/>
        </p:nvSpPr>
        <p:spPr>
          <a:xfrm>
            <a:off x="10152102" y="2544723"/>
            <a:ext cx="1378863" cy="2802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22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₹1,079Cr</a:t>
            </a:r>
            <a:endParaRPr lang="en-US" sz="220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0774" y="1844040"/>
            <a:ext cx="1681639" cy="1681639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9847421" y="3664625"/>
            <a:ext cx="1988344" cy="2484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Adjusted EBITDA</a:t>
            </a:r>
            <a:endParaRPr lang="en-US" sz="1550" dirty="0"/>
          </a:p>
        </p:txBody>
      </p:sp>
      <p:sp>
        <p:nvSpPr>
          <p:cNvPr id="16" name="Text 11"/>
          <p:cNvSpPr/>
          <p:nvPr/>
        </p:nvSpPr>
        <p:spPr>
          <a:xfrm>
            <a:off x="9141619" y="3973711"/>
            <a:ext cx="3400068" cy="202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Reflecting strong operational leverage.</a:t>
            </a:r>
            <a:endParaRPr lang="en-US" sz="1150" dirty="0"/>
          </a:p>
        </p:txBody>
      </p:sp>
      <p:sp>
        <p:nvSpPr>
          <p:cNvPr id="17" name="Text 12"/>
          <p:cNvSpPr/>
          <p:nvPr/>
        </p:nvSpPr>
        <p:spPr>
          <a:xfrm>
            <a:off x="6625590" y="5116592"/>
            <a:ext cx="1378863" cy="2802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22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₹18,824Cr</a:t>
            </a:r>
            <a:endParaRPr lang="en-US" sz="2200" dirty="0"/>
          </a:p>
        </p:txBody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4262" y="4415909"/>
            <a:ext cx="1681639" cy="1681639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320909" y="6236494"/>
            <a:ext cx="1988344" cy="2484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Cash Balance</a:t>
            </a:r>
            <a:endParaRPr lang="en-US" sz="1550" dirty="0"/>
          </a:p>
        </p:txBody>
      </p:sp>
      <p:sp>
        <p:nvSpPr>
          <p:cNvPr id="20" name="Text 14"/>
          <p:cNvSpPr/>
          <p:nvPr/>
        </p:nvSpPr>
        <p:spPr>
          <a:xfrm>
            <a:off x="5614988" y="6545580"/>
            <a:ext cx="3400187" cy="202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Significantly strengthening financial stability.</a:t>
            </a:r>
            <a:endParaRPr lang="en-US" sz="1150" dirty="0"/>
          </a:p>
        </p:txBody>
      </p:sp>
      <p:sp>
        <p:nvSpPr>
          <p:cNvPr id="21" name="Text 15"/>
          <p:cNvSpPr/>
          <p:nvPr/>
        </p:nvSpPr>
        <p:spPr>
          <a:xfrm>
            <a:off x="2088475" y="6861453"/>
            <a:ext cx="10453330" cy="4040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Zomato’s financial performance in FY 2025 demonstrates a significant leap towards fiscal health, driven by strategic execution and market leadership.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818442"/>
            <a:ext cx="4763333" cy="5954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650"/>
              </a:lnSpc>
              <a:buNone/>
            </a:pPr>
            <a:r>
              <a:rPr lang="en-US" sz="375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Problem Statement</a:t>
            </a:r>
            <a:endParaRPr lang="en-US" sz="3750" dirty="0"/>
          </a:p>
        </p:txBody>
      </p:sp>
      <p:sp>
        <p:nvSpPr>
          <p:cNvPr id="3" name="Text 1"/>
          <p:cNvSpPr/>
          <p:nvPr/>
        </p:nvSpPr>
        <p:spPr>
          <a:xfrm>
            <a:off x="793790" y="2867501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Problem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3790" y="3485555"/>
            <a:ext cx="13042821" cy="8051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Zomato’s revenue is growing strongly, but profits are volatile and under pressure.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client is concerned about whether current growth is sustainable and value-accretive.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4545806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Questions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5163860"/>
            <a:ext cx="13042821" cy="12472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Where is Zomato making money vs. losing money?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Are unit economics structurally attractive?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levers can be pulled to improve profitability without stalling growth?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86815" y="490538"/>
            <a:ext cx="1006673" cy="309205"/>
          </a:xfrm>
          <a:prstGeom prst="roundRect">
            <a:avLst>
              <a:gd name="adj" fmla="val 19303"/>
            </a:avLst>
          </a:prstGeom>
          <a:solidFill>
            <a:srgbClr val="1C113B"/>
          </a:solidFill>
          <a:ln/>
        </p:spPr>
      </p:sp>
      <p:sp>
        <p:nvSpPr>
          <p:cNvPr id="3" name="Text 1"/>
          <p:cNvSpPr/>
          <p:nvPr/>
        </p:nvSpPr>
        <p:spPr>
          <a:xfrm>
            <a:off x="1293376" y="543758"/>
            <a:ext cx="793552" cy="2027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CHAPTER 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186815" y="855345"/>
            <a:ext cx="8509397" cy="4662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650"/>
              </a:lnSpc>
              <a:buNone/>
            </a:pPr>
            <a:r>
              <a:rPr lang="en-US" sz="290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Business Segments Driving Growth &amp; Profitability</a:t>
            </a:r>
            <a:endParaRPr lang="en-US" sz="29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6815" y="1530191"/>
            <a:ext cx="3969663" cy="396966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86815" y="5638919"/>
            <a:ext cx="2331363" cy="2913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Food Delivery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186815" y="6013728"/>
            <a:ext cx="3969663" cy="1013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Achieved ₹38,646 crore GOV, contributing 48% of B2C business with 21 million monthly customers. Continues to be a robust revenue stream.</a:t>
            </a:r>
            <a:endParaRPr lang="en-US" sz="13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0309" y="1530191"/>
            <a:ext cx="3969663" cy="3969663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330309" y="5638919"/>
            <a:ext cx="2804517" cy="2913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Quick Commerce (Blinkit)</a:t>
            </a:r>
            <a:endParaRPr lang="en-US" sz="1800" dirty="0"/>
          </a:p>
        </p:txBody>
      </p:sp>
      <p:sp>
        <p:nvSpPr>
          <p:cNvPr id="10" name="Text 6"/>
          <p:cNvSpPr/>
          <p:nvPr/>
        </p:nvSpPr>
        <p:spPr>
          <a:xfrm>
            <a:off x="5330309" y="6013728"/>
            <a:ext cx="3969663" cy="7600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Generated ₹7,796 crore GOV and rapidly expanded to 1,301 stores, carving out a 10% share of the B2C segment.</a:t>
            </a:r>
            <a:endParaRPr lang="en-US" sz="135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73803" y="1530191"/>
            <a:ext cx="3969663" cy="3969663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9473803" y="5638919"/>
            <a:ext cx="2791182" cy="2913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Going-Out &amp; B2B Supplies</a:t>
            </a:r>
            <a:endParaRPr lang="en-US" sz="1800" dirty="0"/>
          </a:p>
        </p:txBody>
      </p:sp>
      <p:sp>
        <p:nvSpPr>
          <p:cNvPr id="13" name="Text 8"/>
          <p:cNvSpPr/>
          <p:nvPr/>
        </p:nvSpPr>
        <p:spPr>
          <a:xfrm>
            <a:off x="9473803" y="6013728"/>
            <a:ext cx="3969663" cy="1013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Growing verticals like "Going-Out Experiences" and "Hyperpure" (B2B supplies) are diversifying Zomato's portfolio and contributing to overall resilience.</a:t>
            </a:r>
            <a:endParaRPr lang="en-US" sz="1350" dirty="0"/>
          </a:p>
        </p:txBody>
      </p:sp>
      <p:sp>
        <p:nvSpPr>
          <p:cNvPr id="14" name="Text 9"/>
          <p:cNvSpPr/>
          <p:nvPr/>
        </p:nvSpPr>
        <p:spPr>
          <a:xfrm>
            <a:off x="1186815" y="7183636"/>
            <a:ext cx="12256770" cy="555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950"/>
              </a:lnSpc>
              <a:buSzPct val="100000"/>
              <a:buChar char="•"/>
            </a:pPr>
            <a:r>
              <a:rPr lang="en-US" sz="13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Strong revenue growth but profit contraction due to cost escalation.</a:t>
            </a:r>
            <a:endParaRPr lang="en-US" sz="1350" dirty="0"/>
          </a:p>
          <a:p>
            <a:pPr algn="l" marL="342900" indent="-342900">
              <a:lnSpc>
                <a:spcPts val="1950"/>
              </a:lnSpc>
              <a:buSzPct val="100000"/>
              <a:buChar char="•"/>
            </a:pPr>
            <a:r>
              <a:rPr lang="en-US" sz="13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Expense growth fully keeps pace with revenue, constraining margin expansion.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96541"/>
            <a:ext cx="7941469" cy="5954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650"/>
              </a:lnSpc>
              <a:buNone/>
            </a:pPr>
            <a:r>
              <a:rPr lang="en-US" sz="375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Segment Revenue Breakdown (FY25)</a:t>
            </a:r>
            <a:endParaRPr lang="en-US" sz="3750" dirty="0"/>
          </a:p>
        </p:txBody>
      </p:sp>
      <p:sp>
        <p:nvSpPr>
          <p:cNvPr id="3" name="Shape 1"/>
          <p:cNvSpPr/>
          <p:nvPr/>
        </p:nvSpPr>
        <p:spPr>
          <a:xfrm>
            <a:off x="793790" y="1945600"/>
            <a:ext cx="13042821" cy="3266837"/>
          </a:xfrm>
          <a:prstGeom prst="roundRect">
            <a:avLst>
              <a:gd name="adj" fmla="val 2916"/>
            </a:avLst>
          </a:prstGeom>
          <a:noFill/>
          <a:ln w="7620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1410" y="1953220"/>
            <a:ext cx="13030081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1028819" y="2096929"/>
            <a:ext cx="171414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Quarter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3204210" y="2096929"/>
            <a:ext cx="171033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Food Delivery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5375791" y="2096929"/>
            <a:ext cx="171033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Blinkit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7547372" y="2096929"/>
            <a:ext cx="171033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Hyperpure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9718953" y="2096929"/>
            <a:ext cx="171033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Others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11890534" y="2096929"/>
            <a:ext cx="171414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Total Revenue</a:t>
            </a:r>
            <a:endParaRPr lang="en-US" sz="1750" dirty="0"/>
          </a:p>
        </p:txBody>
      </p:sp>
      <p:sp>
        <p:nvSpPr>
          <p:cNvPr id="11" name="Shape 9"/>
          <p:cNvSpPr/>
          <p:nvPr/>
        </p:nvSpPr>
        <p:spPr>
          <a:xfrm>
            <a:off x="801410" y="2603540"/>
            <a:ext cx="13030081" cy="65031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1028819" y="2747248"/>
            <a:ext cx="171414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Q1 FY25</a:t>
            </a:r>
            <a:endParaRPr lang="en-US" sz="1750" dirty="0"/>
          </a:p>
        </p:txBody>
      </p:sp>
      <p:sp>
        <p:nvSpPr>
          <p:cNvPr id="13" name="Text 11"/>
          <p:cNvSpPr/>
          <p:nvPr/>
        </p:nvSpPr>
        <p:spPr>
          <a:xfrm>
            <a:off x="3204210" y="2747248"/>
            <a:ext cx="171033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~1,800 Cr</a:t>
            </a:r>
            <a:endParaRPr lang="en-US" sz="1750" dirty="0"/>
          </a:p>
        </p:txBody>
      </p:sp>
      <p:sp>
        <p:nvSpPr>
          <p:cNvPr id="14" name="Text 12"/>
          <p:cNvSpPr/>
          <p:nvPr/>
        </p:nvSpPr>
        <p:spPr>
          <a:xfrm>
            <a:off x="5375791" y="2747248"/>
            <a:ext cx="171033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~800 Cr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7547372" y="2747248"/>
            <a:ext cx="171033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~1,200 Cr</a:t>
            </a:r>
            <a:endParaRPr lang="en-US" sz="1750" dirty="0"/>
          </a:p>
        </p:txBody>
      </p:sp>
      <p:sp>
        <p:nvSpPr>
          <p:cNvPr id="16" name="Text 14"/>
          <p:cNvSpPr/>
          <p:nvPr/>
        </p:nvSpPr>
        <p:spPr>
          <a:xfrm>
            <a:off x="9718953" y="2747248"/>
            <a:ext cx="171033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~200 Cr</a:t>
            </a:r>
            <a:endParaRPr lang="en-US" sz="1750" dirty="0"/>
          </a:p>
        </p:txBody>
      </p:sp>
      <p:sp>
        <p:nvSpPr>
          <p:cNvPr id="17" name="Text 15"/>
          <p:cNvSpPr/>
          <p:nvPr/>
        </p:nvSpPr>
        <p:spPr>
          <a:xfrm>
            <a:off x="11890534" y="2747248"/>
            <a:ext cx="171414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4,520 Cr</a:t>
            </a:r>
            <a:endParaRPr lang="en-US" sz="1750" dirty="0"/>
          </a:p>
        </p:txBody>
      </p:sp>
      <p:sp>
        <p:nvSpPr>
          <p:cNvPr id="18" name="Shape 16"/>
          <p:cNvSpPr/>
          <p:nvPr/>
        </p:nvSpPr>
        <p:spPr>
          <a:xfrm>
            <a:off x="801410" y="3253859"/>
            <a:ext cx="13030081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1028819" y="3397568"/>
            <a:ext cx="171414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Q2 FY25</a:t>
            </a:r>
            <a:endParaRPr lang="en-US" sz="1750" dirty="0"/>
          </a:p>
        </p:txBody>
      </p:sp>
      <p:sp>
        <p:nvSpPr>
          <p:cNvPr id="20" name="Text 18"/>
          <p:cNvSpPr/>
          <p:nvPr/>
        </p:nvSpPr>
        <p:spPr>
          <a:xfrm>
            <a:off x="3204210" y="3397568"/>
            <a:ext cx="171033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1,900 Cr</a:t>
            </a:r>
            <a:endParaRPr lang="en-US" sz="1750" dirty="0"/>
          </a:p>
        </p:txBody>
      </p:sp>
      <p:sp>
        <p:nvSpPr>
          <p:cNvPr id="21" name="Text 19"/>
          <p:cNvSpPr/>
          <p:nvPr/>
        </p:nvSpPr>
        <p:spPr>
          <a:xfrm>
            <a:off x="5375791" y="3397568"/>
            <a:ext cx="171033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1,156 Cr</a:t>
            </a:r>
            <a:endParaRPr lang="en-US" sz="1750" dirty="0"/>
          </a:p>
        </p:txBody>
      </p:sp>
      <p:sp>
        <p:nvSpPr>
          <p:cNvPr id="22" name="Text 20"/>
          <p:cNvSpPr/>
          <p:nvPr/>
        </p:nvSpPr>
        <p:spPr>
          <a:xfrm>
            <a:off x="7547372" y="3397568"/>
            <a:ext cx="171033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1,473 Cr</a:t>
            </a:r>
            <a:endParaRPr lang="en-US" sz="1750" dirty="0"/>
          </a:p>
        </p:txBody>
      </p:sp>
      <p:sp>
        <p:nvSpPr>
          <p:cNvPr id="23" name="Text 21"/>
          <p:cNvSpPr/>
          <p:nvPr/>
        </p:nvSpPr>
        <p:spPr>
          <a:xfrm>
            <a:off x="9718953" y="3397568"/>
            <a:ext cx="171033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~270 Cr</a:t>
            </a:r>
            <a:endParaRPr lang="en-US" sz="1750" dirty="0"/>
          </a:p>
        </p:txBody>
      </p:sp>
      <p:sp>
        <p:nvSpPr>
          <p:cNvPr id="24" name="Text 22"/>
          <p:cNvSpPr/>
          <p:nvPr/>
        </p:nvSpPr>
        <p:spPr>
          <a:xfrm>
            <a:off x="11890534" y="3397568"/>
            <a:ext cx="171414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4,799 Cr</a:t>
            </a:r>
            <a:endParaRPr lang="en-US" sz="1750" dirty="0"/>
          </a:p>
        </p:txBody>
      </p:sp>
      <p:sp>
        <p:nvSpPr>
          <p:cNvPr id="25" name="Shape 23"/>
          <p:cNvSpPr/>
          <p:nvPr/>
        </p:nvSpPr>
        <p:spPr>
          <a:xfrm>
            <a:off x="801410" y="3904178"/>
            <a:ext cx="13030081" cy="65031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1028819" y="4047887"/>
            <a:ext cx="171414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Q3 FY25</a:t>
            </a:r>
            <a:endParaRPr lang="en-US" sz="1750" dirty="0"/>
          </a:p>
        </p:txBody>
      </p:sp>
      <p:sp>
        <p:nvSpPr>
          <p:cNvPr id="27" name="Text 25"/>
          <p:cNvSpPr/>
          <p:nvPr/>
        </p:nvSpPr>
        <p:spPr>
          <a:xfrm>
            <a:off x="3204210" y="4047887"/>
            <a:ext cx="171033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2,072 Cr</a:t>
            </a:r>
            <a:endParaRPr lang="en-US" sz="1750" dirty="0"/>
          </a:p>
        </p:txBody>
      </p:sp>
      <p:sp>
        <p:nvSpPr>
          <p:cNvPr id="28" name="Text 26"/>
          <p:cNvSpPr/>
          <p:nvPr/>
        </p:nvSpPr>
        <p:spPr>
          <a:xfrm>
            <a:off x="5375791" y="4047887"/>
            <a:ext cx="171033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1,399 Cr</a:t>
            </a:r>
            <a:endParaRPr lang="en-US" sz="1750" dirty="0"/>
          </a:p>
        </p:txBody>
      </p:sp>
      <p:sp>
        <p:nvSpPr>
          <p:cNvPr id="29" name="Text 27"/>
          <p:cNvSpPr/>
          <p:nvPr/>
        </p:nvSpPr>
        <p:spPr>
          <a:xfrm>
            <a:off x="7547372" y="4047887"/>
            <a:ext cx="171033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1,671 Cr</a:t>
            </a:r>
            <a:endParaRPr lang="en-US" sz="1750" dirty="0"/>
          </a:p>
        </p:txBody>
      </p:sp>
      <p:sp>
        <p:nvSpPr>
          <p:cNvPr id="30" name="Text 28"/>
          <p:cNvSpPr/>
          <p:nvPr/>
        </p:nvSpPr>
        <p:spPr>
          <a:xfrm>
            <a:off x="9718953" y="4047887"/>
            <a:ext cx="171033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~263 Cr</a:t>
            </a:r>
            <a:endParaRPr lang="en-US" sz="1750" dirty="0"/>
          </a:p>
        </p:txBody>
      </p:sp>
      <p:sp>
        <p:nvSpPr>
          <p:cNvPr id="31" name="Text 29"/>
          <p:cNvSpPr/>
          <p:nvPr/>
        </p:nvSpPr>
        <p:spPr>
          <a:xfrm>
            <a:off x="11890534" y="4047887"/>
            <a:ext cx="171414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5,405 Cr</a:t>
            </a:r>
            <a:endParaRPr lang="en-US" sz="1750" dirty="0"/>
          </a:p>
        </p:txBody>
      </p:sp>
      <p:sp>
        <p:nvSpPr>
          <p:cNvPr id="32" name="Shape 30"/>
          <p:cNvSpPr/>
          <p:nvPr/>
        </p:nvSpPr>
        <p:spPr>
          <a:xfrm>
            <a:off x="801410" y="4554498"/>
            <a:ext cx="13030081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1028819" y="4698206"/>
            <a:ext cx="171414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Q4 FY25</a:t>
            </a:r>
            <a:endParaRPr lang="en-US" sz="1750" dirty="0"/>
          </a:p>
        </p:txBody>
      </p:sp>
      <p:sp>
        <p:nvSpPr>
          <p:cNvPr id="34" name="Text 32"/>
          <p:cNvSpPr/>
          <p:nvPr/>
        </p:nvSpPr>
        <p:spPr>
          <a:xfrm>
            <a:off x="3204210" y="4698206"/>
            <a:ext cx="171033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~2,300 Cr</a:t>
            </a:r>
            <a:endParaRPr lang="en-US" sz="1750" dirty="0"/>
          </a:p>
        </p:txBody>
      </p:sp>
      <p:sp>
        <p:nvSpPr>
          <p:cNvPr id="35" name="Text 33"/>
          <p:cNvSpPr/>
          <p:nvPr/>
        </p:nvSpPr>
        <p:spPr>
          <a:xfrm>
            <a:off x="5375791" y="4698206"/>
            <a:ext cx="171033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~1,500 Cr</a:t>
            </a:r>
            <a:endParaRPr lang="en-US" sz="1750" dirty="0"/>
          </a:p>
        </p:txBody>
      </p:sp>
      <p:sp>
        <p:nvSpPr>
          <p:cNvPr id="36" name="Text 34"/>
          <p:cNvSpPr/>
          <p:nvPr/>
        </p:nvSpPr>
        <p:spPr>
          <a:xfrm>
            <a:off x="7547372" y="4698206"/>
            <a:ext cx="171033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~1,800 Cr</a:t>
            </a:r>
            <a:endParaRPr lang="en-US" sz="1750" dirty="0"/>
          </a:p>
        </p:txBody>
      </p:sp>
      <p:sp>
        <p:nvSpPr>
          <p:cNvPr id="37" name="Text 35"/>
          <p:cNvSpPr/>
          <p:nvPr/>
        </p:nvSpPr>
        <p:spPr>
          <a:xfrm>
            <a:off x="9718953" y="4698206"/>
            <a:ext cx="171033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~233 Cr</a:t>
            </a:r>
            <a:endParaRPr lang="en-US" sz="1750" dirty="0"/>
          </a:p>
        </p:txBody>
      </p:sp>
      <p:sp>
        <p:nvSpPr>
          <p:cNvPr id="38" name="Text 36"/>
          <p:cNvSpPr/>
          <p:nvPr/>
        </p:nvSpPr>
        <p:spPr>
          <a:xfrm>
            <a:off x="11890534" y="4698206"/>
            <a:ext cx="171414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5,833 Cr</a:t>
            </a:r>
            <a:endParaRPr lang="en-US" sz="1750" dirty="0"/>
          </a:p>
        </p:txBody>
      </p:sp>
      <p:sp>
        <p:nvSpPr>
          <p:cNvPr id="39" name="Text 37"/>
          <p:cNvSpPr/>
          <p:nvPr/>
        </p:nvSpPr>
        <p:spPr>
          <a:xfrm>
            <a:off x="793790" y="5467588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Callouts:</a:t>
            </a:r>
            <a:endParaRPr lang="en-US" sz="1750" dirty="0"/>
          </a:p>
        </p:txBody>
      </p:sp>
      <p:sp>
        <p:nvSpPr>
          <p:cNvPr id="40" name="Text 38"/>
          <p:cNvSpPr/>
          <p:nvPr/>
        </p:nvSpPr>
        <p:spPr>
          <a:xfrm>
            <a:off x="793790" y="6085642"/>
            <a:ext cx="13042821" cy="12472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Blinkit: ~2x revenue in a year; key growth engine.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Hyperpure: ~30% revenue share, building B2B moat.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Food Delivery: Core, slower but stable growth.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956792"/>
            <a:ext cx="6596062" cy="5954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650"/>
              </a:lnSpc>
              <a:buNone/>
            </a:pPr>
            <a:r>
              <a:rPr lang="en-US" sz="375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Major Profitability Challenges</a:t>
            </a:r>
            <a:endParaRPr lang="en-US" sz="3750" dirty="0"/>
          </a:p>
        </p:txBody>
      </p:sp>
      <p:sp>
        <p:nvSpPr>
          <p:cNvPr id="3" name="Shape 1"/>
          <p:cNvSpPr/>
          <p:nvPr/>
        </p:nvSpPr>
        <p:spPr>
          <a:xfrm>
            <a:off x="793790" y="3005852"/>
            <a:ext cx="13042821" cy="3266837"/>
          </a:xfrm>
          <a:prstGeom prst="roundRect">
            <a:avLst>
              <a:gd name="adj" fmla="val 2916"/>
            </a:avLst>
          </a:prstGeom>
          <a:noFill/>
          <a:ln w="7620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1410" y="3013472"/>
            <a:ext cx="13027581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1028224" y="3157180"/>
            <a:ext cx="60563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Drivers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545824" y="3157180"/>
            <a:ext cx="60563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Impact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801410" y="3663791"/>
            <a:ext cx="13027581" cy="65031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1028224" y="3807500"/>
            <a:ext cx="60563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Blinkit expansion (368 new stores; ~Rs 370 Cr capex)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7545824" y="3807500"/>
            <a:ext cx="60563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 upfront costs, depreciation drag.</a:t>
            </a:r>
            <a:endParaRPr lang="en-US" sz="1750" dirty="0"/>
          </a:p>
        </p:txBody>
      </p:sp>
      <p:sp>
        <p:nvSpPr>
          <p:cNvPr id="10" name="Shape 8"/>
          <p:cNvSpPr/>
          <p:nvPr/>
        </p:nvSpPr>
        <p:spPr>
          <a:xfrm>
            <a:off x="801410" y="4314111"/>
            <a:ext cx="13027581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1028224" y="4457819"/>
            <a:ext cx="60563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 variable costs (delivery payouts, discounts, ads)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7545824" y="4457819"/>
            <a:ext cx="60563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Thin per-order contribution margins.</a:t>
            </a:r>
            <a:endParaRPr lang="en-US" sz="1750" dirty="0"/>
          </a:p>
        </p:txBody>
      </p:sp>
      <p:sp>
        <p:nvSpPr>
          <p:cNvPr id="13" name="Shape 11"/>
          <p:cNvSpPr/>
          <p:nvPr/>
        </p:nvSpPr>
        <p:spPr>
          <a:xfrm>
            <a:off x="801410" y="4964430"/>
            <a:ext cx="13027581" cy="65031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1028224" y="5108138"/>
            <a:ext cx="60563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Competitive intensity from Swiggy, Zepto, others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7545824" y="5108138"/>
            <a:ext cx="60563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Discount pressure and marketing spend</a:t>
            </a:r>
            <a:endParaRPr lang="en-US" sz="1750" dirty="0"/>
          </a:p>
        </p:txBody>
      </p:sp>
      <p:sp>
        <p:nvSpPr>
          <p:cNvPr id="16" name="Shape 14"/>
          <p:cNvSpPr/>
          <p:nvPr/>
        </p:nvSpPr>
        <p:spPr>
          <a:xfrm>
            <a:off x="801410" y="5614749"/>
            <a:ext cx="13027581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1028224" y="5758458"/>
            <a:ext cx="60563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Fixed cost base (tech, support, corporate)</a:t>
            </a:r>
            <a:endParaRPr lang="en-US" sz="1750" dirty="0"/>
          </a:p>
        </p:txBody>
      </p:sp>
      <p:sp>
        <p:nvSpPr>
          <p:cNvPr id="18" name="Text 16"/>
          <p:cNvSpPr/>
          <p:nvPr/>
        </p:nvSpPr>
        <p:spPr>
          <a:xfrm>
            <a:off x="7545824" y="5758458"/>
            <a:ext cx="60563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Slows conversion of contribution margin to net profit.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1411486"/>
            <a:ext cx="1281708" cy="426244"/>
          </a:xfrm>
          <a:prstGeom prst="roundRect">
            <a:avLst>
              <a:gd name="adj" fmla="val 17880"/>
            </a:avLst>
          </a:prstGeom>
          <a:solidFill>
            <a:srgbClr val="1C113B"/>
          </a:solidFill>
          <a:ln/>
        </p:spPr>
      </p:sp>
      <p:sp>
        <p:nvSpPr>
          <p:cNvPr id="3" name="Text 1"/>
          <p:cNvSpPr/>
          <p:nvPr/>
        </p:nvSpPr>
        <p:spPr>
          <a:xfrm>
            <a:off x="929878" y="1479471"/>
            <a:ext cx="1009531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CHAPTER 5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93790" y="1928455"/>
            <a:ext cx="10071735" cy="5954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650"/>
              </a:lnSpc>
              <a:buNone/>
            </a:pPr>
            <a:r>
              <a:rPr lang="en-US" sz="375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Operational Challenges &amp; Ecosystem Frictions</a:t>
            </a:r>
            <a:endParaRPr lang="en-US" sz="3750" dirty="0"/>
          </a:p>
        </p:txBody>
      </p:sp>
      <p:sp>
        <p:nvSpPr>
          <p:cNvPr id="5" name="Shape 3"/>
          <p:cNvSpPr/>
          <p:nvPr/>
        </p:nvSpPr>
        <p:spPr>
          <a:xfrm>
            <a:off x="793790" y="2864048"/>
            <a:ext cx="4196358" cy="3335893"/>
          </a:xfrm>
          <a:prstGeom prst="roundRect">
            <a:avLst>
              <a:gd name="adj" fmla="val 2856"/>
            </a:avLst>
          </a:prstGeom>
          <a:solidFill>
            <a:srgbClr val="2F1D63"/>
          </a:solidFill>
          <a:ln w="7620">
            <a:solidFill>
              <a:srgbClr val="48367C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224" y="3098483"/>
            <a:ext cx="680442" cy="680442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15390" y="3285530"/>
            <a:ext cx="306110" cy="30611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28224" y="4005739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Platform Tensions</a:t>
            </a:r>
            <a:endParaRPr lang="en-US" sz="2300" dirty="0"/>
          </a:p>
        </p:txBody>
      </p:sp>
      <p:sp>
        <p:nvSpPr>
          <p:cNvPr id="9" name="Text 5"/>
          <p:cNvSpPr/>
          <p:nvPr/>
        </p:nvSpPr>
        <p:spPr>
          <a:xfrm>
            <a:off x="1028224" y="4513898"/>
            <a:ext cx="3727490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Restaurant partners protested commission opacity, and delivery agents resisted wage cuts under the "Select to Go" model.</a:t>
            </a:r>
            <a:endParaRPr lang="en-US" sz="1750" dirty="0"/>
          </a:p>
        </p:txBody>
      </p:sp>
      <p:sp>
        <p:nvSpPr>
          <p:cNvPr id="10" name="Shape 6"/>
          <p:cNvSpPr/>
          <p:nvPr/>
        </p:nvSpPr>
        <p:spPr>
          <a:xfrm>
            <a:off x="5216962" y="2864048"/>
            <a:ext cx="4196358" cy="3335893"/>
          </a:xfrm>
          <a:prstGeom prst="roundRect">
            <a:avLst>
              <a:gd name="adj" fmla="val 2856"/>
            </a:avLst>
          </a:prstGeom>
          <a:solidFill>
            <a:srgbClr val="2F1D63"/>
          </a:solidFill>
          <a:ln w="7620">
            <a:solidFill>
              <a:srgbClr val="48367C"/>
            </a:solidFill>
            <a:prstDash val="solid"/>
          </a:ln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51396" y="3098483"/>
            <a:ext cx="680442" cy="680442"/>
          </a:xfrm>
          <a:prstGeom prst="rect">
            <a:avLst/>
          </a:prstGeom>
        </p:spPr>
      </p:pic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638562" y="3285530"/>
            <a:ext cx="306110" cy="30611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5451396" y="4005739"/>
            <a:ext cx="3454718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Blinkit's Expansion Costs</a:t>
            </a:r>
            <a:endParaRPr lang="en-US" sz="2300" dirty="0"/>
          </a:p>
        </p:txBody>
      </p:sp>
      <p:sp>
        <p:nvSpPr>
          <p:cNvPr id="14" name="Text 8"/>
          <p:cNvSpPr/>
          <p:nvPr/>
        </p:nvSpPr>
        <p:spPr>
          <a:xfrm>
            <a:off x="5451396" y="4513898"/>
            <a:ext cx="3727490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Accelerated store expansion led to increased losses (₹178 crore in Q4FY25), impacting near-term profitability.</a:t>
            </a:r>
            <a:endParaRPr lang="en-US" sz="1750" dirty="0"/>
          </a:p>
        </p:txBody>
      </p:sp>
      <p:sp>
        <p:nvSpPr>
          <p:cNvPr id="15" name="Shape 9"/>
          <p:cNvSpPr/>
          <p:nvPr/>
        </p:nvSpPr>
        <p:spPr>
          <a:xfrm>
            <a:off x="9640133" y="2864048"/>
            <a:ext cx="4196358" cy="3335893"/>
          </a:xfrm>
          <a:prstGeom prst="roundRect">
            <a:avLst>
              <a:gd name="adj" fmla="val 2856"/>
            </a:avLst>
          </a:prstGeom>
          <a:solidFill>
            <a:srgbClr val="2F1D63"/>
          </a:solidFill>
          <a:ln w="7620">
            <a:solidFill>
              <a:srgbClr val="48367C"/>
            </a:solidFill>
            <a:prstDash val="solid"/>
          </a:ln>
        </p:spPr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74568" y="3098483"/>
            <a:ext cx="680442" cy="680442"/>
          </a:xfrm>
          <a:prstGeom prst="rect">
            <a:avLst/>
          </a:prstGeom>
        </p:spPr>
      </p:pic>
      <p:pic>
        <p:nvPicPr>
          <p:cNvPr id="17" name="Image 5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061734" y="3285530"/>
            <a:ext cx="306110" cy="306110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9874568" y="4005739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Competitive Intensity</a:t>
            </a:r>
            <a:endParaRPr lang="en-US" sz="2300" dirty="0"/>
          </a:p>
        </p:txBody>
      </p:sp>
      <p:sp>
        <p:nvSpPr>
          <p:cNvPr id="19" name="Text 11"/>
          <p:cNvSpPr/>
          <p:nvPr/>
        </p:nvSpPr>
        <p:spPr>
          <a:xfrm>
            <a:off x="9874568" y="4513898"/>
            <a:ext cx="3727490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Rising competition in Q-commerce and food delivery pressured take rates and increased marketing expenditures.</a:t>
            </a:r>
            <a:endParaRPr lang="en-US" sz="1750" dirty="0"/>
          </a:p>
        </p:txBody>
      </p:sp>
      <p:sp>
        <p:nvSpPr>
          <p:cNvPr id="20" name="Text 12"/>
          <p:cNvSpPr/>
          <p:nvPr/>
        </p:nvSpPr>
        <p:spPr>
          <a:xfrm>
            <a:off x="793790" y="6455093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Navigating these operational challenges and maintaining a balanced ecosystem remains crucial for sustained success.</a:t>
            </a:r>
            <a:endParaRPr lang="en-US" sz="1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0095" y="676870"/>
            <a:ext cx="1232297" cy="402193"/>
          </a:xfrm>
          <a:prstGeom prst="roundRect">
            <a:avLst>
              <a:gd name="adj" fmla="val 18143"/>
            </a:avLst>
          </a:prstGeom>
          <a:solidFill>
            <a:srgbClr val="1C113B"/>
          </a:solidFill>
          <a:ln/>
        </p:spPr>
      </p:sp>
      <p:sp>
        <p:nvSpPr>
          <p:cNvPr id="3" name="Text 1"/>
          <p:cNvSpPr/>
          <p:nvPr/>
        </p:nvSpPr>
        <p:spPr>
          <a:xfrm>
            <a:off x="890349" y="741998"/>
            <a:ext cx="971788" cy="271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CHAPTER 6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760095" y="1162169"/>
            <a:ext cx="10965299" cy="5699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450"/>
              </a:lnSpc>
              <a:buNone/>
            </a:pPr>
            <a:r>
              <a:rPr lang="en-US" sz="355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Financial Performance Deep Dive: Q4 FY25 Snapshot</a:t>
            </a:r>
            <a:endParaRPr lang="en-US" sz="3550" dirty="0"/>
          </a:p>
        </p:txBody>
      </p:sp>
      <p:sp>
        <p:nvSpPr>
          <p:cNvPr id="5" name="Text 3"/>
          <p:cNvSpPr/>
          <p:nvPr/>
        </p:nvSpPr>
        <p:spPr>
          <a:xfrm>
            <a:off x="760095" y="2230993"/>
            <a:ext cx="4244102" cy="13601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Q4 FY25 revenue reached ₹5,833 crore, a robust 64% YoY growth, yet only an 8% QoQ increase, indicating potential saturation in certain areas.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60095" y="3778210"/>
            <a:ext cx="4244102" cy="13601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Operating profit stood at ₹72 crore with a 1.2% margin, experiencing a QoQ dip primarily due to significant expansion costs in new ventures.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60095" y="5325428"/>
            <a:ext cx="4244102" cy="20402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Net profit declined 34% QoQ to ₹39 crore, influenced by heightened marketing efforts and increased operational expenditures. Management remains cautiously optimistic for long-term growth and margin recovery.</a:t>
            </a:r>
            <a:endParaRPr lang="en-US" sz="17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41645" y="2464237"/>
            <a:ext cx="8336161" cy="4016573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8008620" y="6480810"/>
            <a:ext cx="217170" cy="217170"/>
          </a:xfrm>
          <a:prstGeom prst="roundRect">
            <a:avLst>
              <a:gd name="adj" fmla="val 8421"/>
            </a:avLst>
          </a:prstGeom>
          <a:solidFill>
            <a:srgbClr val="6B4ACA"/>
          </a:solidFill>
          <a:ln/>
        </p:spPr>
      </p:sp>
      <p:sp>
        <p:nvSpPr>
          <p:cNvPr id="10" name="Text 7"/>
          <p:cNvSpPr/>
          <p:nvPr/>
        </p:nvSpPr>
        <p:spPr>
          <a:xfrm>
            <a:off x="8286750" y="6480810"/>
            <a:ext cx="1346716" cy="217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7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Revenue (Cr)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9785866" y="6480810"/>
            <a:ext cx="217170" cy="217170"/>
          </a:xfrm>
          <a:prstGeom prst="roundRect">
            <a:avLst>
              <a:gd name="adj" fmla="val 8421"/>
            </a:avLst>
          </a:prstGeom>
          <a:solidFill>
            <a:srgbClr val="AD9AE2"/>
          </a:solidFill>
          <a:ln/>
        </p:spPr>
      </p:sp>
      <p:sp>
        <p:nvSpPr>
          <p:cNvPr id="12" name="Text 9"/>
          <p:cNvSpPr/>
          <p:nvPr/>
        </p:nvSpPr>
        <p:spPr>
          <a:xfrm>
            <a:off x="10063996" y="6480810"/>
            <a:ext cx="1433393" cy="217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7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Net Profit (Cr)</a:t>
            </a:r>
            <a:endParaRPr lang="en-US" sz="1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2045494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669494" y="3232666"/>
            <a:ext cx="921068" cy="278368"/>
          </a:xfrm>
          <a:prstGeom prst="roundRect">
            <a:avLst>
              <a:gd name="adj" fmla="val 19752"/>
            </a:avLst>
          </a:prstGeom>
          <a:solidFill>
            <a:srgbClr val="1C113B"/>
          </a:solidFill>
          <a:ln/>
        </p:spPr>
      </p:sp>
      <p:sp>
        <p:nvSpPr>
          <p:cNvPr id="4" name="Text 1"/>
          <p:cNvSpPr/>
          <p:nvPr/>
        </p:nvSpPr>
        <p:spPr>
          <a:xfrm>
            <a:off x="1767602" y="3281720"/>
            <a:ext cx="724852" cy="1802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CHAPTER 7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669494" y="3558183"/>
            <a:ext cx="5237321" cy="4294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50"/>
              </a:lnSpc>
              <a:buNone/>
            </a:pPr>
            <a:r>
              <a:rPr lang="en-US" sz="270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Market &amp; Competitive Landscape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1669494" y="4034790"/>
            <a:ext cx="5009317" cy="3221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b="1" u="sng" dirty="0">
                <a:solidFill>
                  <a:srgbClr val="CCCCCC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Duopoly in Food, Crowded in Q-Commerce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1669494" y="4534019"/>
            <a:ext cx="11291292" cy="2150269"/>
          </a:xfrm>
          <a:prstGeom prst="roundRect">
            <a:avLst>
              <a:gd name="adj" fmla="val 3196"/>
            </a:avLst>
          </a:prstGeom>
          <a:noFill/>
          <a:ln w="7620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677114" y="4541639"/>
            <a:ext cx="11276052" cy="381952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1841063" y="4619982"/>
            <a:ext cx="2487930" cy="225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Competitor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4663797" y="4619982"/>
            <a:ext cx="2484120" cy="225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Food Delivery Share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7482721" y="4619982"/>
            <a:ext cx="2484120" cy="225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Quick Commerce Position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10301645" y="4619982"/>
            <a:ext cx="2487930" cy="225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Recent Highlights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1677114" y="4923592"/>
            <a:ext cx="11276052" cy="60721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4" name="Text 11"/>
          <p:cNvSpPr/>
          <p:nvPr/>
        </p:nvSpPr>
        <p:spPr>
          <a:xfrm>
            <a:off x="1841063" y="5001935"/>
            <a:ext cx="2487930" cy="225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Zomato / Blinkit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4663797" y="5001935"/>
            <a:ext cx="2484120" cy="225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55–58%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7482721" y="5001935"/>
            <a:ext cx="2484120" cy="225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Leader (&gt;50%)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10301645" y="5001935"/>
            <a:ext cx="2487930" cy="4505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FY25 rev ~Rs 20K Cr, strong cash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1677114" y="5530810"/>
            <a:ext cx="11276052" cy="381952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9" name="Text 16"/>
          <p:cNvSpPr/>
          <p:nvPr/>
        </p:nvSpPr>
        <p:spPr>
          <a:xfrm>
            <a:off x="1841063" y="5609153"/>
            <a:ext cx="2487930" cy="225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Swiggy / Instamart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4663797" y="5609153"/>
            <a:ext cx="2484120" cy="225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42–45%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7482721" y="5609153"/>
            <a:ext cx="2484120" cy="225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#3 (~20%)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10301645" y="5609153"/>
            <a:ext cx="2487930" cy="225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Bolt 10-min, IPO momentum</a:t>
            </a:r>
            <a:endParaRPr lang="en-US" sz="1250" dirty="0"/>
          </a:p>
        </p:txBody>
      </p:sp>
      <p:sp>
        <p:nvSpPr>
          <p:cNvPr id="23" name="Shape 20"/>
          <p:cNvSpPr/>
          <p:nvPr/>
        </p:nvSpPr>
        <p:spPr>
          <a:xfrm>
            <a:off x="1677114" y="5912763"/>
            <a:ext cx="11276052" cy="381952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4" name="Text 21"/>
          <p:cNvSpPr/>
          <p:nvPr/>
        </p:nvSpPr>
        <p:spPr>
          <a:xfrm>
            <a:off x="1841063" y="5991106"/>
            <a:ext cx="2487930" cy="225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Zepto</a:t>
            </a:r>
            <a:endParaRPr lang="en-US" sz="1250" dirty="0"/>
          </a:p>
        </p:txBody>
      </p:sp>
      <p:sp>
        <p:nvSpPr>
          <p:cNvPr id="25" name="Text 22"/>
          <p:cNvSpPr/>
          <p:nvPr/>
        </p:nvSpPr>
        <p:spPr>
          <a:xfrm>
            <a:off x="4663797" y="5991106"/>
            <a:ext cx="2484120" cy="225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Small in food</a:t>
            </a:r>
            <a:endParaRPr lang="en-US" sz="1250" dirty="0"/>
          </a:p>
        </p:txBody>
      </p:sp>
      <p:sp>
        <p:nvSpPr>
          <p:cNvPr id="26" name="Text 23"/>
          <p:cNvSpPr/>
          <p:nvPr/>
        </p:nvSpPr>
        <p:spPr>
          <a:xfrm>
            <a:off x="7482721" y="5991106"/>
            <a:ext cx="2484120" cy="225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25–30%</a:t>
            </a:r>
            <a:endParaRPr lang="en-US" sz="1250" dirty="0"/>
          </a:p>
        </p:txBody>
      </p:sp>
      <p:sp>
        <p:nvSpPr>
          <p:cNvPr id="27" name="Text 24"/>
          <p:cNvSpPr/>
          <p:nvPr/>
        </p:nvSpPr>
        <p:spPr>
          <a:xfrm>
            <a:off x="10301645" y="5991106"/>
            <a:ext cx="2487930" cy="225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Aggressive dark store build-out</a:t>
            </a:r>
            <a:endParaRPr lang="en-US" sz="1250" dirty="0"/>
          </a:p>
        </p:txBody>
      </p:sp>
      <p:sp>
        <p:nvSpPr>
          <p:cNvPr id="28" name="Shape 25"/>
          <p:cNvSpPr/>
          <p:nvPr/>
        </p:nvSpPr>
        <p:spPr>
          <a:xfrm>
            <a:off x="1677114" y="6294715"/>
            <a:ext cx="11276052" cy="381952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9" name="Text 26"/>
          <p:cNvSpPr/>
          <p:nvPr/>
        </p:nvSpPr>
        <p:spPr>
          <a:xfrm>
            <a:off x="1841063" y="6373058"/>
            <a:ext cx="2487930" cy="225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Flipkart Minutes</a:t>
            </a:r>
            <a:endParaRPr lang="en-US" sz="1250" dirty="0"/>
          </a:p>
        </p:txBody>
      </p:sp>
      <p:sp>
        <p:nvSpPr>
          <p:cNvPr id="30" name="Text 27"/>
          <p:cNvSpPr/>
          <p:nvPr/>
        </p:nvSpPr>
        <p:spPr>
          <a:xfrm>
            <a:off x="4663797" y="6373058"/>
            <a:ext cx="2484120" cy="225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N/A</a:t>
            </a:r>
            <a:endParaRPr lang="en-US" sz="1250" dirty="0"/>
          </a:p>
        </p:txBody>
      </p:sp>
      <p:sp>
        <p:nvSpPr>
          <p:cNvPr id="31" name="Text 28"/>
          <p:cNvSpPr/>
          <p:nvPr/>
        </p:nvSpPr>
        <p:spPr>
          <a:xfrm>
            <a:off x="7482721" y="6373058"/>
            <a:ext cx="2484120" cy="225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Emerging</a:t>
            </a:r>
            <a:endParaRPr lang="en-US" sz="1250" dirty="0"/>
          </a:p>
        </p:txBody>
      </p:sp>
      <p:sp>
        <p:nvSpPr>
          <p:cNvPr id="32" name="Text 29"/>
          <p:cNvSpPr/>
          <p:nvPr/>
        </p:nvSpPr>
        <p:spPr>
          <a:xfrm>
            <a:off x="10301645" y="6373058"/>
            <a:ext cx="2487930" cy="225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Bengaluru pilot, ONDC focus</a:t>
            </a:r>
            <a:endParaRPr lang="en-US" sz="1250" dirty="0"/>
          </a:p>
        </p:txBody>
      </p:sp>
      <p:sp>
        <p:nvSpPr>
          <p:cNvPr id="33" name="Text 30"/>
          <p:cNvSpPr/>
          <p:nvPr/>
        </p:nvSpPr>
        <p:spPr>
          <a:xfrm>
            <a:off x="1669494" y="6817043"/>
            <a:ext cx="11291292" cy="225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Zomato is well-positioned but cannot rely on market structure alone for profitability.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314569"/>
            <a:ext cx="9091613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850"/>
              </a:lnSpc>
              <a:buNone/>
            </a:pPr>
            <a:r>
              <a:rPr lang="en-US" sz="465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A Large and Fast-Growing Market</a:t>
            </a:r>
            <a:endParaRPr lang="en-US" sz="4650" dirty="0"/>
          </a:p>
        </p:txBody>
      </p:sp>
      <p:sp>
        <p:nvSpPr>
          <p:cNvPr id="3" name="Shape 1"/>
          <p:cNvSpPr/>
          <p:nvPr/>
        </p:nvSpPr>
        <p:spPr>
          <a:xfrm>
            <a:off x="793790" y="2512457"/>
            <a:ext cx="13042821" cy="3342322"/>
          </a:xfrm>
          <a:prstGeom prst="roundRect">
            <a:avLst>
              <a:gd name="adj" fmla="val 2850"/>
            </a:avLst>
          </a:prstGeom>
          <a:noFill/>
          <a:ln w="7620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1410" y="2520077"/>
            <a:ext cx="13027581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1028462" y="2663785"/>
            <a:ext cx="279939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Year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4289108" y="2663785"/>
            <a:ext cx="279558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Market Size (US$ Bn)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545943" y="2663785"/>
            <a:ext cx="279558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CAGR Projection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10802779" y="2663785"/>
            <a:ext cx="279939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Drivers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801410" y="3170396"/>
            <a:ext cx="13027581" cy="1013222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1028462" y="3314105"/>
            <a:ext cx="279939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2025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4289108" y="3314105"/>
            <a:ext cx="279558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55.6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7545943" y="3314105"/>
            <a:ext cx="279558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22% to 2034</a:t>
            </a:r>
            <a:endParaRPr lang="en-US" sz="1750" dirty="0"/>
          </a:p>
        </p:txBody>
      </p:sp>
      <p:sp>
        <p:nvSpPr>
          <p:cNvPr id="13" name="Text 11"/>
          <p:cNvSpPr/>
          <p:nvPr/>
        </p:nvSpPr>
        <p:spPr>
          <a:xfrm>
            <a:off x="10802779" y="3314105"/>
            <a:ext cx="2799397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Smartphones, urban workforce</a:t>
            </a:r>
            <a:endParaRPr lang="en-US" sz="1750" dirty="0"/>
          </a:p>
        </p:txBody>
      </p:sp>
      <p:sp>
        <p:nvSpPr>
          <p:cNvPr id="14" name="Shape 12"/>
          <p:cNvSpPr/>
          <p:nvPr/>
        </p:nvSpPr>
        <p:spPr>
          <a:xfrm>
            <a:off x="801410" y="4183618"/>
            <a:ext cx="13027581" cy="1013222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1028462" y="4327327"/>
            <a:ext cx="279939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2026</a:t>
            </a:r>
            <a:endParaRPr lang="en-US" sz="1750" dirty="0"/>
          </a:p>
        </p:txBody>
      </p:sp>
      <p:sp>
        <p:nvSpPr>
          <p:cNvPr id="16" name="Text 14"/>
          <p:cNvSpPr/>
          <p:nvPr/>
        </p:nvSpPr>
        <p:spPr>
          <a:xfrm>
            <a:off x="4289108" y="4327327"/>
            <a:ext cx="279558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65.0</a:t>
            </a:r>
            <a:endParaRPr lang="en-US" sz="1750" dirty="0"/>
          </a:p>
        </p:txBody>
      </p:sp>
      <p:sp>
        <p:nvSpPr>
          <p:cNvPr id="17" name="Text 15"/>
          <p:cNvSpPr/>
          <p:nvPr/>
        </p:nvSpPr>
        <p:spPr>
          <a:xfrm>
            <a:off x="7545943" y="4327327"/>
            <a:ext cx="279558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28.8% to 2029</a:t>
            </a:r>
            <a:endParaRPr lang="en-US" sz="1750" dirty="0"/>
          </a:p>
        </p:txBody>
      </p:sp>
      <p:sp>
        <p:nvSpPr>
          <p:cNvPr id="18" name="Text 16"/>
          <p:cNvSpPr/>
          <p:nvPr/>
        </p:nvSpPr>
        <p:spPr>
          <a:xfrm>
            <a:off x="10802779" y="4327327"/>
            <a:ext cx="2799397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Tier-2/3 expansion, ready-to-eat</a:t>
            </a:r>
            <a:endParaRPr lang="en-US" sz="1750" dirty="0"/>
          </a:p>
        </p:txBody>
      </p:sp>
      <p:sp>
        <p:nvSpPr>
          <p:cNvPr id="19" name="Shape 17"/>
          <p:cNvSpPr/>
          <p:nvPr/>
        </p:nvSpPr>
        <p:spPr>
          <a:xfrm>
            <a:off x="801410" y="5196840"/>
            <a:ext cx="13027581" cy="65031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1028462" y="5340548"/>
            <a:ext cx="279939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2030</a:t>
            </a:r>
            <a:endParaRPr lang="en-US" sz="1750" dirty="0"/>
          </a:p>
        </p:txBody>
      </p:sp>
      <p:sp>
        <p:nvSpPr>
          <p:cNvPr id="21" name="Text 19"/>
          <p:cNvSpPr/>
          <p:nvPr/>
        </p:nvSpPr>
        <p:spPr>
          <a:xfrm>
            <a:off x="4289108" y="5340548"/>
            <a:ext cx="279558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~200+</a:t>
            </a:r>
            <a:endParaRPr lang="en-US" sz="1750" dirty="0"/>
          </a:p>
        </p:txBody>
      </p:sp>
      <p:sp>
        <p:nvSpPr>
          <p:cNvPr id="22" name="Text 20"/>
          <p:cNvSpPr/>
          <p:nvPr/>
        </p:nvSpPr>
        <p:spPr>
          <a:xfrm>
            <a:off x="7545943" y="5340548"/>
            <a:ext cx="279558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24–33%</a:t>
            </a:r>
            <a:endParaRPr lang="en-US" sz="1750" dirty="0"/>
          </a:p>
        </p:txBody>
      </p:sp>
      <p:sp>
        <p:nvSpPr>
          <p:cNvPr id="23" name="Text 21"/>
          <p:cNvSpPr/>
          <p:nvPr/>
        </p:nvSpPr>
        <p:spPr>
          <a:xfrm>
            <a:off x="10802779" y="5340548"/>
            <a:ext cx="279939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Q-commerce integration</a:t>
            </a:r>
            <a:endParaRPr lang="en-US" sz="1750" dirty="0"/>
          </a:p>
        </p:txBody>
      </p:sp>
      <p:sp>
        <p:nvSpPr>
          <p:cNvPr id="24" name="Text 22"/>
          <p:cNvSpPr/>
          <p:nvPr/>
        </p:nvSpPr>
        <p:spPr>
          <a:xfrm>
            <a:off x="793790" y="6109930"/>
            <a:ext cx="13042821" cy="8051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Food delivery + quick commerce is already &gt;Rs 4.6 lakh Cr.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Quick commerce GMV: US$ 6–7 Bn (2024), ~40% CAGR expected.</a:t>
            </a:r>
            <a:endParaRPr lang="en-US" sz="1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78775" y="594479"/>
            <a:ext cx="8608576" cy="6363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000"/>
              </a:lnSpc>
              <a:buNone/>
            </a:pPr>
            <a:r>
              <a:rPr lang="en-US" sz="400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Four-Bucket Profitability Framework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678775" y="1562576"/>
            <a:ext cx="13272849" cy="6072426"/>
          </a:xfrm>
          <a:prstGeom prst="roundRect">
            <a:avLst>
              <a:gd name="adj" fmla="val 1342"/>
            </a:avLst>
          </a:prstGeom>
          <a:noFill/>
          <a:ln w="7620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6395" y="1570196"/>
            <a:ext cx="13257609" cy="6057186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94184" y="1677233"/>
            <a:ext cx="8642033" cy="5455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80348" y="7232571"/>
            <a:ext cx="12869704" cy="287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6190" y="1572578"/>
            <a:ext cx="1047155" cy="324922"/>
          </a:xfrm>
          <a:prstGeom prst="roundRect">
            <a:avLst>
              <a:gd name="adj" fmla="val 19090"/>
            </a:avLst>
          </a:prstGeom>
          <a:solidFill>
            <a:srgbClr val="1C113B"/>
          </a:solidFill>
          <a:ln/>
        </p:spPr>
      </p:sp>
      <p:sp>
        <p:nvSpPr>
          <p:cNvPr id="3" name="Text 1"/>
          <p:cNvSpPr/>
          <p:nvPr/>
        </p:nvSpPr>
        <p:spPr>
          <a:xfrm>
            <a:off x="1056918" y="1627942"/>
            <a:ext cx="825698" cy="214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CHAPTER 8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946190" y="1957507"/>
            <a:ext cx="7975044" cy="484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800"/>
              </a:lnSpc>
              <a:buNone/>
            </a:pPr>
            <a:r>
              <a:rPr lang="en-US" sz="305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Unit Economics Summary: The Rs 500 Order</a:t>
            </a:r>
            <a:endParaRPr lang="en-US" sz="3050" dirty="0"/>
          </a:p>
        </p:txBody>
      </p:sp>
      <p:sp>
        <p:nvSpPr>
          <p:cNvPr id="5" name="Text 3"/>
          <p:cNvSpPr/>
          <p:nvPr/>
        </p:nvSpPr>
        <p:spPr>
          <a:xfrm>
            <a:off x="946190" y="2667357"/>
            <a:ext cx="12737902" cy="2678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Analyzing a typical Rs 500 order reveals the tight margins and critical balance between revenue generation and variable costs.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946190" y="3104198"/>
            <a:ext cx="12737902" cy="2795588"/>
          </a:xfrm>
          <a:prstGeom prst="roundRect">
            <a:avLst>
              <a:gd name="adj" fmla="val 2773"/>
            </a:avLst>
          </a:prstGeom>
          <a:noFill/>
          <a:ln w="7620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53810" y="3111818"/>
            <a:ext cx="12721352" cy="463391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1139904" y="3209568"/>
            <a:ext cx="3867031" cy="2678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Component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5383649" y="3209568"/>
            <a:ext cx="3863221" cy="2678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Amount (Rs)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9623584" y="3209568"/>
            <a:ext cx="3867031" cy="2678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% of Gross AOV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953810" y="3575209"/>
            <a:ext cx="12721352" cy="463391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1139904" y="3672959"/>
            <a:ext cx="3867031" cy="2678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Gross order value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5383649" y="3672959"/>
            <a:ext cx="3863221" cy="2678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500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9623584" y="3672959"/>
            <a:ext cx="3867031" cy="2678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100%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953810" y="4038600"/>
            <a:ext cx="12721352" cy="463391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1139904" y="4136350"/>
            <a:ext cx="3867031" cy="2678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Total revenue (commissions, fees, subs)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5383649" y="4136350"/>
            <a:ext cx="3863221" cy="2678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175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9623584" y="4136350"/>
            <a:ext cx="3867031" cy="2678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35%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953810" y="4501991"/>
            <a:ext cx="12721352" cy="463391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1139904" y="4599742"/>
            <a:ext cx="3867031" cy="2678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Variable costs (delivery, discounts etc.)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5383649" y="4599742"/>
            <a:ext cx="3863221" cy="2678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-175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9623584" y="4599742"/>
            <a:ext cx="3867031" cy="2678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-35%</a:t>
            </a:r>
            <a:endParaRPr lang="en-US" sz="1450" dirty="0"/>
          </a:p>
        </p:txBody>
      </p:sp>
      <p:sp>
        <p:nvSpPr>
          <p:cNvPr id="23" name="Shape 21"/>
          <p:cNvSpPr/>
          <p:nvPr/>
        </p:nvSpPr>
        <p:spPr>
          <a:xfrm>
            <a:off x="953810" y="4965383"/>
            <a:ext cx="12721352" cy="463391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1139904" y="5063133"/>
            <a:ext cx="3867031" cy="2678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Net contribution margin (before fixed)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5383649" y="5063133"/>
            <a:ext cx="3863221" cy="2678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~0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9623584" y="5063133"/>
            <a:ext cx="3867031" cy="2678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0%</a:t>
            </a:r>
            <a:endParaRPr lang="en-US" sz="1450" dirty="0"/>
          </a:p>
        </p:txBody>
      </p:sp>
      <p:sp>
        <p:nvSpPr>
          <p:cNvPr id="27" name="Shape 25"/>
          <p:cNvSpPr/>
          <p:nvPr/>
        </p:nvSpPr>
        <p:spPr>
          <a:xfrm>
            <a:off x="953810" y="5428774"/>
            <a:ext cx="12721352" cy="463391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1139904" y="5526524"/>
            <a:ext cx="3867031" cy="2678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Estimated profit per order (post-optim.)</a:t>
            </a:r>
            <a:endParaRPr lang="en-US" sz="1450" dirty="0"/>
          </a:p>
        </p:txBody>
      </p:sp>
      <p:sp>
        <p:nvSpPr>
          <p:cNvPr id="29" name="Text 27"/>
          <p:cNvSpPr/>
          <p:nvPr/>
        </p:nvSpPr>
        <p:spPr>
          <a:xfrm>
            <a:off x="5383649" y="5526524"/>
            <a:ext cx="3863221" cy="2678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20–40</a:t>
            </a:r>
            <a:endParaRPr lang="en-US" sz="1450" dirty="0"/>
          </a:p>
        </p:txBody>
      </p:sp>
      <p:sp>
        <p:nvSpPr>
          <p:cNvPr id="30" name="Text 28"/>
          <p:cNvSpPr/>
          <p:nvPr/>
        </p:nvSpPr>
        <p:spPr>
          <a:xfrm>
            <a:off x="9623584" y="5526524"/>
            <a:ext cx="3867031" cy="2678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4–8%</a:t>
            </a:r>
            <a:endParaRPr lang="en-US" sz="1450" dirty="0"/>
          </a:p>
        </p:txBody>
      </p:sp>
      <p:sp>
        <p:nvSpPr>
          <p:cNvPr id="31" name="Text 29"/>
          <p:cNvSpPr/>
          <p:nvPr/>
        </p:nvSpPr>
        <p:spPr>
          <a:xfrm>
            <a:off x="946190" y="6068735"/>
            <a:ext cx="12737902" cy="588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100"/>
              </a:lnSpc>
              <a:buSzPct val="100000"/>
              <a:buChar char="•"/>
            </a:pPr>
            <a:r>
              <a:rPr lang="en-US" sz="14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Profit drivers: Higher AOV (e.g., Blinkit Rs 669), better batching, subscription usage.</a:t>
            </a:r>
            <a:endParaRPr lang="en-US" sz="1450" dirty="0"/>
          </a:p>
          <a:p>
            <a:pPr algn="l" marL="342900" indent="-342900">
              <a:lnSpc>
                <a:spcPts val="2100"/>
              </a:lnSpc>
              <a:buSzPct val="100000"/>
              <a:buChar char="•"/>
            </a:pPr>
            <a:r>
              <a:rPr lang="en-US" sz="14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Risk factors: Over-discounting, poor delivery performance, and high CAC.</a:t>
            </a:r>
            <a:endParaRPr lang="en-US" sz="14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391960"/>
            <a:ext cx="10241161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850"/>
              </a:lnSpc>
              <a:buNone/>
            </a:pPr>
            <a:r>
              <a:rPr lang="en-US" sz="465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How Zomato Earns on a Rs 500 Order</a:t>
            </a:r>
            <a:endParaRPr lang="en-US" sz="4650" dirty="0"/>
          </a:p>
        </p:txBody>
      </p:sp>
      <p:sp>
        <p:nvSpPr>
          <p:cNvPr id="3" name="Shape 1"/>
          <p:cNvSpPr/>
          <p:nvPr/>
        </p:nvSpPr>
        <p:spPr>
          <a:xfrm>
            <a:off x="793790" y="2589848"/>
            <a:ext cx="13042821" cy="3629739"/>
          </a:xfrm>
          <a:prstGeom prst="roundRect">
            <a:avLst>
              <a:gd name="adj" fmla="val 2625"/>
            </a:avLst>
          </a:prstGeom>
          <a:noFill/>
          <a:ln w="7620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1410" y="2597468"/>
            <a:ext cx="13026271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1029653" y="2741176"/>
            <a:ext cx="38841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Driver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5375077" y="2741176"/>
            <a:ext cx="388036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 Order Value (Rs)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9716691" y="2741176"/>
            <a:ext cx="38841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Insight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801410" y="3247787"/>
            <a:ext cx="13026271" cy="65031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1029653" y="3391495"/>
            <a:ext cx="38841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Restaurant commission (20–25%)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5375077" y="3391495"/>
            <a:ext cx="388036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100–125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9716691" y="3391495"/>
            <a:ext cx="38841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Core monetisation, tier-based rates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801410" y="3898106"/>
            <a:ext cx="13026271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1029653" y="4041815"/>
            <a:ext cx="38841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Delivery fee (to customer)</a:t>
            </a:r>
            <a:endParaRPr lang="en-US" sz="1750" dirty="0"/>
          </a:p>
        </p:txBody>
      </p:sp>
      <p:sp>
        <p:nvSpPr>
          <p:cNvPr id="14" name="Text 12"/>
          <p:cNvSpPr/>
          <p:nvPr/>
        </p:nvSpPr>
        <p:spPr>
          <a:xfrm>
            <a:off x="5375077" y="4041815"/>
            <a:ext cx="388036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30–50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9716691" y="4041815"/>
            <a:ext cx="38841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Mostly retained after payout</a:t>
            </a:r>
            <a:endParaRPr lang="en-US" sz="1750" dirty="0"/>
          </a:p>
        </p:txBody>
      </p:sp>
      <p:sp>
        <p:nvSpPr>
          <p:cNvPr id="16" name="Shape 14"/>
          <p:cNvSpPr/>
          <p:nvPr/>
        </p:nvSpPr>
        <p:spPr>
          <a:xfrm>
            <a:off x="801410" y="4548426"/>
            <a:ext cx="13026271" cy="65031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1029653" y="4692134"/>
            <a:ext cx="38841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Platform/ads fees</a:t>
            </a:r>
            <a:endParaRPr lang="en-US" sz="1750" dirty="0"/>
          </a:p>
        </p:txBody>
      </p:sp>
      <p:sp>
        <p:nvSpPr>
          <p:cNvPr id="18" name="Text 16"/>
          <p:cNvSpPr/>
          <p:nvPr/>
        </p:nvSpPr>
        <p:spPr>
          <a:xfrm>
            <a:off x="5375077" y="4692134"/>
            <a:ext cx="388036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10–20</a:t>
            </a:r>
            <a:endParaRPr lang="en-US" sz="1750" dirty="0"/>
          </a:p>
        </p:txBody>
      </p:sp>
      <p:sp>
        <p:nvSpPr>
          <p:cNvPr id="19" name="Text 17"/>
          <p:cNvSpPr/>
          <p:nvPr/>
        </p:nvSpPr>
        <p:spPr>
          <a:xfrm>
            <a:off x="9716691" y="4692134"/>
            <a:ext cx="38841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Sponsored listings, visibility boosts</a:t>
            </a:r>
            <a:endParaRPr lang="en-US" sz="1750" dirty="0"/>
          </a:p>
        </p:txBody>
      </p:sp>
      <p:sp>
        <p:nvSpPr>
          <p:cNvPr id="20" name="Shape 18"/>
          <p:cNvSpPr/>
          <p:nvPr/>
        </p:nvSpPr>
        <p:spPr>
          <a:xfrm>
            <a:off x="801410" y="5198745"/>
            <a:ext cx="13026271" cy="1013222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1029653" y="5342453"/>
            <a:ext cx="38841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Subscription allocation (Gold)</a:t>
            </a:r>
            <a:endParaRPr lang="en-US" sz="1750" dirty="0"/>
          </a:p>
        </p:txBody>
      </p:sp>
      <p:sp>
        <p:nvSpPr>
          <p:cNvPr id="22" name="Text 20"/>
          <p:cNvSpPr/>
          <p:nvPr/>
        </p:nvSpPr>
        <p:spPr>
          <a:xfrm>
            <a:off x="5375077" y="5342453"/>
            <a:ext cx="388036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5–10</a:t>
            </a:r>
            <a:endParaRPr lang="en-US" sz="1750" dirty="0"/>
          </a:p>
        </p:txBody>
      </p:sp>
      <p:sp>
        <p:nvSpPr>
          <p:cNvPr id="23" name="Text 21"/>
          <p:cNvSpPr/>
          <p:nvPr/>
        </p:nvSpPr>
        <p:spPr>
          <a:xfrm>
            <a:off x="9716691" y="5342453"/>
            <a:ext cx="388417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Recurring revenue, higher frequency</a:t>
            </a:r>
            <a:endParaRPr lang="en-US" sz="1750" dirty="0"/>
          </a:p>
        </p:txBody>
      </p:sp>
      <p:sp>
        <p:nvSpPr>
          <p:cNvPr id="24" name="Text 22"/>
          <p:cNvSpPr/>
          <p:nvPr/>
        </p:nvSpPr>
        <p:spPr>
          <a:xfrm>
            <a:off x="793790" y="6474738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Total revenue capture ≈ Rs 145–205 (~30–40% of gross order value).</a:t>
            </a:r>
            <a:endParaRPr lang="en-US" sz="17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029057"/>
            <a:ext cx="7639050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850"/>
              </a:lnSpc>
              <a:buNone/>
            </a:pPr>
            <a:r>
              <a:rPr lang="en-US" sz="465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Where the Money Leaks Out</a:t>
            </a:r>
            <a:endParaRPr lang="en-US" sz="4650" dirty="0"/>
          </a:p>
        </p:txBody>
      </p:sp>
      <p:sp>
        <p:nvSpPr>
          <p:cNvPr id="3" name="Shape 1"/>
          <p:cNvSpPr/>
          <p:nvPr/>
        </p:nvSpPr>
        <p:spPr>
          <a:xfrm>
            <a:off x="793790" y="2226945"/>
            <a:ext cx="13042821" cy="4355544"/>
          </a:xfrm>
          <a:prstGeom prst="roundRect">
            <a:avLst>
              <a:gd name="adj" fmla="val 2187"/>
            </a:avLst>
          </a:prstGeom>
          <a:noFill/>
          <a:ln w="7620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1410" y="2234565"/>
            <a:ext cx="13026271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1029653" y="2378273"/>
            <a:ext cx="38841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Cost Driver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5375077" y="2378273"/>
            <a:ext cx="388036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 Order Cost (Rs)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9716691" y="2378273"/>
            <a:ext cx="38841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Insight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801410" y="2884884"/>
            <a:ext cx="13026271" cy="1013222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1029653" y="3028593"/>
            <a:ext cx="38841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Delivery partner payout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5375077" y="3028593"/>
            <a:ext cx="388036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80–100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9716691" y="3028593"/>
            <a:ext cx="388417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40–50% of delivery fee + distance-based component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801410" y="3898106"/>
            <a:ext cx="13026271" cy="1013222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1029653" y="4041815"/>
            <a:ext cx="38841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Discounts &amp; offers</a:t>
            </a:r>
            <a:endParaRPr lang="en-US" sz="1750" dirty="0"/>
          </a:p>
        </p:txBody>
      </p:sp>
      <p:sp>
        <p:nvSpPr>
          <p:cNvPr id="14" name="Text 12"/>
          <p:cNvSpPr/>
          <p:nvPr/>
        </p:nvSpPr>
        <p:spPr>
          <a:xfrm>
            <a:off x="5375077" y="4041815"/>
            <a:ext cx="388036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50–75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9716691" y="4041815"/>
            <a:ext cx="388417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10–15% of AOV; critical for demand stimulation</a:t>
            </a:r>
            <a:endParaRPr lang="en-US" sz="1750" dirty="0"/>
          </a:p>
        </p:txBody>
      </p:sp>
      <p:sp>
        <p:nvSpPr>
          <p:cNvPr id="16" name="Shape 14"/>
          <p:cNvSpPr/>
          <p:nvPr/>
        </p:nvSpPr>
        <p:spPr>
          <a:xfrm>
            <a:off x="801410" y="4911328"/>
            <a:ext cx="13026271" cy="1013222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1029653" y="5055037"/>
            <a:ext cx="38841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CAC allocation</a:t>
            </a:r>
            <a:endParaRPr lang="en-US" sz="1750" dirty="0"/>
          </a:p>
        </p:txBody>
      </p:sp>
      <p:sp>
        <p:nvSpPr>
          <p:cNvPr id="18" name="Text 16"/>
          <p:cNvSpPr/>
          <p:nvPr/>
        </p:nvSpPr>
        <p:spPr>
          <a:xfrm>
            <a:off x="5375077" y="5055037"/>
            <a:ext cx="388036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10–15</a:t>
            </a:r>
            <a:endParaRPr lang="en-US" sz="1750" dirty="0"/>
          </a:p>
        </p:txBody>
      </p:sp>
      <p:sp>
        <p:nvSpPr>
          <p:cNvPr id="19" name="Text 17"/>
          <p:cNvSpPr/>
          <p:nvPr/>
        </p:nvSpPr>
        <p:spPr>
          <a:xfrm>
            <a:off x="9716691" y="5055037"/>
            <a:ext cx="388417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Marketing and reactivation cost spread over orders</a:t>
            </a:r>
            <a:endParaRPr lang="en-US" sz="1750" dirty="0"/>
          </a:p>
        </p:txBody>
      </p:sp>
      <p:sp>
        <p:nvSpPr>
          <p:cNvPr id="20" name="Shape 18"/>
          <p:cNvSpPr/>
          <p:nvPr/>
        </p:nvSpPr>
        <p:spPr>
          <a:xfrm>
            <a:off x="801410" y="5924550"/>
            <a:ext cx="13026271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1029653" y="6068258"/>
            <a:ext cx="38841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Support &amp; refunds</a:t>
            </a:r>
            <a:endParaRPr lang="en-US" sz="1750" dirty="0"/>
          </a:p>
        </p:txBody>
      </p:sp>
      <p:sp>
        <p:nvSpPr>
          <p:cNvPr id="22" name="Text 20"/>
          <p:cNvSpPr/>
          <p:nvPr/>
        </p:nvSpPr>
        <p:spPr>
          <a:xfrm>
            <a:off x="5375077" y="6068258"/>
            <a:ext cx="388036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5–10</a:t>
            </a:r>
            <a:endParaRPr lang="en-US" sz="1750" dirty="0"/>
          </a:p>
        </p:txBody>
      </p:sp>
      <p:sp>
        <p:nvSpPr>
          <p:cNvPr id="23" name="Text 21"/>
          <p:cNvSpPr/>
          <p:nvPr/>
        </p:nvSpPr>
        <p:spPr>
          <a:xfrm>
            <a:off x="9716691" y="6068258"/>
            <a:ext cx="38841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Cancellations, service recovery</a:t>
            </a:r>
            <a:endParaRPr lang="en-US" sz="1750" dirty="0"/>
          </a:p>
        </p:txBody>
      </p:sp>
      <p:sp>
        <p:nvSpPr>
          <p:cNvPr id="24" name="Text 22"/>
          <p:cNvSpPr/>
          <p:nvPr/>
        </p:nvSpPr>
        <p:spPr>
          <a:xfrm>
            <a:off x="793790" y="6837640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“After variable costs, contribution margin per order is only Rs 20–40 (4–8%).”</a:t>
            </a:r>
            <a:endParaRPr lang="en-US" sz="17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74921"/>
            <a:ext cx="12785527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850"/>
              </a:lnSpc>
              <a:buNone/>
            </a:pPr>
            <a:r>
              <a:rPr lang="en-US" sz="465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Delivery Time, Batching, and Driver Utilisation</a:t>
            </a:r>
            <a:endParaRPr lang="en-US" sz="4650" dirty="0"/>
          </a:p>
        </p:txBody>
      </p:sp>
      <p:sp>
        <p:nvSpPr>
          <p:cNvPr id="3" name="Shape 1"/>
          <p:cNvSpPr/>
          <p:nvPr/>
        </p:nvSpPr>
        <p:spPr>
          <a:xfrm>
            <a:off x="793790" y="2472809"/>
            <a:ext cx="13042821" cy="2979420"/>
          </a:xfrm>
          <a:prstGeom prst="roundRect">
            <a:avLst>
              <a:gd name="adj" fmla="val 3198"/>
            </a:avLst>
          </a:prstGeom>
          <a:noFill/>
          <a:ln w="7620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1410" y="2480429"/>
            <a:ext cx="13027581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1028462" y="2624137"/>
            <a:ext cx="279939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Phase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4289108" y="2624137"/>
            <a:ext cx="279558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Time (min)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545943" y="2624137"/>
            <a:ext cx="279558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Std Dev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10802779" y="2624137"/>
            <a:ext cx="279939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Optimisation Focus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801410" y="3130748"/>
            <a:ext cx="13027581" cy="1013222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1028462" y="3274457"/>
            <a:ext cx="279939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Prep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4289108" y="3274457"/>
            <a:ext cx="279558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17.3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7545943" y="3274457"/>
            <a:ext cx="279558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6.8</a:t>
            </a:r>
            <a:endParaRPr lang="en-US" sz="1750" dirty="0"/>
          </a:p>
        </p:txBody>
      </p:sp>
      <p:sp>
        <p:nvSpPr>
          <p:cNvPr id="13" name="Text 11"/>
          <p:cNvSpPr/>
          <p:nvPr/>
        </p:nvSpPr>
        <p:spPr>
          <a:xfrm>
            <a:off x="10802779" y="3274457"/>
            <a:ext cx="2799397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Restaurant SLAs, incentives</a:t>
            </a:r>
            <a:endParaRPr lang="en-US" sz="1750" dirty="0"/>
          </a:p>
        </p:txBody>
      </p:sp>
      <p:sp>
        <p:nvSpPr>
          <p:cNvPr id="14" name="Shape 12"/>
          <p:cNvSpPr/>
          <p:nvPr/>
        </p:nvSpPr>
        <p:spPr>
          <a:xfrm>
            <a:off x="801410" y="4143970"/>
            <a:ext cx="13027581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1028462" y="4287679"/>
            <a:ext cx="279939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Pickup</a:t>
            </a:r>
            <a:endParaRPr lang="en-US" sz="1750" dirty="0"/>
          </a:p>
        </p:txBody>
      </p:sp>
      <p:sp>
        <p:nvSpPr>
          <p:cNvPr id="16" name="Text 14"/>
          <p:cNvSpPr/>
          <p:nvPr/>
        </p:nvSpPr>
        <p:spPr>
          <a:xfrm>
            <a:off x="4289108" y="4287679"/>
            <a:ext cx="279558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3.8</a:t>
            </a:r>
            <a:endParaRPr lang="en-US" sz="1750" dirty="0"/>
          </a:p>
        </p:txBody>
      </p:sp>
      <p:sp>
        <p:nvSpPr>
          <p:cNvPr id="17" name="Text 15"/>
          <p:cNvSpPr/>
          <p:nvPr/>
        </p:nvSpPr>
        <p:spPr>
          <a:xfrm>
            <a:off x="7545943" y="4287679"/>
            <a:ext cx="279558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2.1</a:t>
            </a:r>
            <a:endParaRPr lang="en-US" sz="1750" dirty="0"/>
          </a:p>
        </p:txBody>
      </p:sp>
      <p:sp>
        <p:nvSpPr>
          <p:cNvPr id="18" name="Text 16"/>
          <p:cNvSpPr/>
          <p:nvPr/>
        </p:nvSpPr>
        <p:spPr>
          <a:xfrm>
            <a:off x="10802779" y="4287679"/>
            <a:ext cx="279939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GPS, queue management</a:t>
            </a:r>
            <a:endParaRPr lang="en-US" sz="1750" dirty="0"/>
          </a:p>
        </p:txBody>
      </p:sp>
      <p:sp>
        <p:nvSpPr>
          <p:cNvPr id="19" name="Shape 17"/>
          <p:cNvSpPr/>
          <p:nvPr/>
        </p:nvSpPr>
        <p:spPr>
          <a:xfrm>
            <a:off x="801410" y="4794290"/>
            <a:ext cx="13027581" cy="65031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1028462" y="4937998"/>
            <a:ext cx="279939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Transit</a:t>
            </a:r>
            <a:endParaRPr lang="en-US" sz="1750" dirty="0"/>
          </a:p>
        </p:txBody>
      </p:sp>
      <p:sp>
        <p:nvSpPr>
          <p:cNvPr id="21" name="Text 19"/>
          <p:cNvSpPr/>
          <p:nvPr/>
        </p:nvSpPr>
        <p:spPr>
          <a:xfrm>
            <a:off x="4289108" y="4937998"/>
            <a:ext cx="279558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11.6</a:t>
            </a:r>
            <a:endParaRPr lang="en-US" sz="1750" dirty="0"/>
          </a:p>
        </p:txBody>
      </p:sp>
      <p:sp>
        <p:nvSpPr>
          <p:cNvPr id="22" name="Text 20"/>
          <p:cNvSpPr/>
          <p:nvPr/>
        </p:nvSpPr>
        <p:spPr>
          <a:xfrm>
            <a:off x="7545943" y="4937998"/>
            <a:ext cx="279558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4.2</a:t>
            </a:r>
            <a:endParaRPr lang="en-US" sz="1750" dirty="0"/>
          </a:p>
        </p:txBody>
      </p:sp>
      <p:sp>
        <p:nvSpPr>
          <p:cNvPr id="23" name="Text 21"/>
          <p:cNvSpPr/>
          <p:nvPr/>
        </p:nvSpPr>
        <p:spPr>
          <a:xfrm>
            <a:off x="10802779" y="4937998"/>
            <a:ext cx="279939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Routing, zone design</a:t>
            </a:r>
            <a:endParaRPr lang="en-US" sz="1750" dirty="0"/>
          </a:p>
        </p:txBody>
      </p:sp>
      <p:sp>
        <p:nvSpPr>
          <p:cNvPr id="24" name="Text 22"/>
          <p:cNvSpPr/>
          <p:nvPr/>
        </p:nvSpPr>
        <p:spPr>
          <a:xfrm>
            <a:off x="793790" y="5707380"/>
            <a:ext cx="13042821" cy="12472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Order batching via AI (clustering + routing) → 20–30% multi-order trips; ~15–20% cost reduction.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Driver earnings ~Rs 102/hour; utilisation ~70–80% at peak; incentives tied to peaks and batching.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Delays &gt;35–45 minutes significantly hurt ratings and raise refunds.</a:t>
            </a:r>
            <a:endParaRPr lang="en-US" sz="17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518523" y="1174909"/>
            <a:ext cx="952619" cy="287893"/>
          </a:xfrm>
          <a:prstGeom prst="roundRect">
            <a:avLst>
              <a:gd name="adj" fmla="val 19610"/>
            </a:avLst>
          </a:prstGeom>
          <a:solidFill>
            <a:srgbClr val="1C113B"/>
          </a:solidFill>
          <a:ln/>
        </p:spPr>
      </p:sp>
      <p:sp>
        <p:nvSpPr>
          <p:cNvPr id="3" name="Text 1"/>
          <p:cNvSpPr/>
          <p:nvPr/>
        </p:nvSpPr>
        <p:spPr>
          <a:xfrm>
            <a:off x="1619250" y="1225272"/>
            <a:ext cx="751165" cy="187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CHAPTER 8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518523" y="1512570"/>
            <a:ext cx="6237684" cy="5512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300"/>
              </a:lnSpc>
              <a:buNone/>
            </a:pPr>
            <a:r>
              <a:rPr lang="en-US" sz="345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Deep-Dive Diagnosis by Bucket</a:t>
            </a:r>
            <a:endParaRPr lang="en-US" sz="3450" dirty="0"/>
          </a:p>
        </p:txBody>
      </p:sp>
      <p:sp>
        <p:nvSpPr>
          <p:cNvPr id="5" name="Shape 3"/>
          <p:cNvSpPr/>
          <p:nvPr/>
        </p:nvSpPr>
        <p:spPr>
          <a:xfrm>
            <a:off x="1518523" y="2250400"/>
            <a:ext cx="5734407" cy="2339935"/>
          </a:xfrm>
          <a:prstGeom prst="roundRect">
            <a:avLst>
              <a:gd name="adj" fmla="val 3016"/>
            </a:avLst>
          </a:prstGeom>
          <a:solidFill>
            <a:srgbClr val="2F1D63"/>
          </a:solidFill>
          <a:ln w="7620">
            <a:solidFill>
              <a:srgbClr val="48367C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94140" y="2426018"/>
            <a:ext cx="503992" cy="503992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832729" y="2564606"/>
            <a:ext cx="226814" cy="22681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694140" y="3054429"/>
            <a:ext cx="2205157" cy="275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Revenue</a:t>
            </a:r>
            <a:endParaRPr lang="en-US" sz="1700" dirty="0"/>
          </a:p>
        </p:txBody>
      </p:sp>
      <p:sp>
        <p:nvSpPr>
          <p:cNvPr id="9" name="Text 5"/>
          <p:cNvSpPr/>
          <p:nvPr/>
        </p:nvSpPr>
        <p:spPr>
          <a:xfrm>
            <a:off x="1694140" y="3404711"/>
            <a:ext cx="5383173" cy="4676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Average order frequency ≈ 2–2.5 orders/user/month – moderate, indicating room for improvement.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1694140" y="3947041"/>
            <a:ext cx="5383173" cy="4676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Discounts support volume but can cap overall monetisation potential.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7377351" y="2250400"/>
            <a:ext cx="5734526" cy="2339935"/>
          </a:xfrm>
          <a:prstGeom prst="roundRect">
            <a:avLst>
              <a:gd name="adj" fmla="val 3016"/>
            </a:avLst>
          </a:prstGeom>
          <a:solidFill>
            <a:srgbClr val="2F1D63"/>
          </a:solidFill>
          <a:ln w="7620">
            <a:solidFill>
              <a:srgbClr val="48367C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52968" y="2426018"/>
            <a:ext cx="503992" cy="503992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691557" y="2564606"/>
            <a:ext cx="226814" cy="226814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7552968" y="3054429"/>
            <a:ext cx="2205157" cy="275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Cost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7552968" y="3404711"/>
            <a:ext cx="5383292" cy="4676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Delivery costs ~20% of order value – acceptable but highly sensitive to driver incentives and fuel price fluctuations.</a:t>
            </a:r>
            <a:endParaRPr lang="en-US" sz="1300" dirty="0"/>
          </a:p>
        </p:txBody>
      </p:sp>
      <p:sp>
        <p:nvSpPr>
          <p:cNvPr id="16" name="Text 10"/>
          <p:cNvSpPr/>
          <p:nvPr/>
        </p:nvSpPr>
        <p:spPr>
          <a:xfrm>
            <a:off x="7552968" y="3947041"/>
            <a:ext cx="5383292" cy="4676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Discounts represent the largest controllable leakage point in the cost structure.</a:t>
            </a:r>
            <a:endParaRPr lang="en-US" sz="1300" dirty="0"/>
          </a:p>
        </p:txBody>
      </p:sp>
      <p:sp>
        <p:nvSpPr>
          <p:cNvPr id="17" name="Shape 11"/>
          <p:cNvSpPr/>
          <p:nvPr/>
        </p:nvSpPr>
        <p:spPr>
          <a:xfrm>
            <a:off x="1518523" y="4714756"/>
            <a:ext cx="5734407" cy="2339935"/>
          </a:xfrm>
          <a:prstGeom prst="roundRect">
            <a:avLst>
              <a:gd name="adj" fmla="val 3016"/>
            </a:avLst>
          </a:prstGeom>
          <a:solidFill>
            <a:srgbClr val="2F1D63"/>
          </a:solidFill>
          <a:ln w="7620">
            <a:solidFill>
              <a:srgbClr val="48367C"/>
            </a:solidFill>
            <a:prstDash val="solid"/>
          </a:ln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94140" y="4890373"/>
            <a:ext cx="503992" cy="503992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832729" y="5028962"/>
            <a:ext cx="226814" cy="226814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1694140" y="5518785"/>
            <a:ext cx="2205157" cy="275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Operations</a:t>
            </a:r>
            <a:endParaRPr lang="en-US" sz="1700" dirty="0"/>
          </a:p>
        </p:txBody>
      </p:sp>
      <p:sp>
        <p:nvSpPr>
          <p:cNvPr id="21" name="Text 13"/>
          <p:cNvSpPr/>
          <p:nvPr/>
        </p:nvSpPr>
        <p:spPr>
          <a:xfrm>
            <a:off x="1694140" y="5869067"/>
            <a:ext cx="5383173" cy="4676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Delivery time averages ~34 minutes, competitive but requires ongoing optimisation, especially in dense urban markets.</a:t>
            </a:r>
            <a:endParaRPr lang="en-US" sz="1300" dirty="0"/>
          </a:p>
        </p:txBody>
      </p:sp>
      <p:sp>
        <p:nvSpPr>
          <p:cNvPr id="22" name="Text 14"/>
          <p:cNvSpPr/>
          <p:nvPr/>
        </p:nvSpPr>
        <p:spPr>
          <a:xfrm>
            <a:off x="1694140" y="6411397"/>
            <a:ext cx="5383173" cy="4676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Order batching is implemented, but significant scope remains to increase its share and efficiency.</a:t>
            </a:r>
            <a:endParaRPr lang="en-US" sz="1300" dirty="0"/>
          </a:p>
        </p:txBody>
      </p:sp>
      <p:sp>
        <p:nvSpPr>
          <p:cNvPr id="23" name="Shape 15"/>
          <p:cNvSpPr/>
          <p:nvPr/>
        </p:nvSpPr>
        <p:spPr>
          <a:xfrm>
            <a:off x="7377351" y="4714756"/>
            <a:ext cx="5734526" cy="2339935"/>
          </a:xfrm>
          <a:prstGeom prst="roundRect">
            <a:avLst>
              <a:gd name="adj" fmla="val 3016"/>
            </a:avLst>
          </a:prstGeom>
          <a:solidFill>
            <a:srgbClr val="2F1D63"/>
          </a:solidFill>
          <a:ln w="7620">
            <a:solidFill>
              <a:srgbClr val="48367C"/>
            </a:solidFill>
            <a:prstDash val="solid"/>
          </a:ln>
        </p:spPr>
      </p:sp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552968" y="4890373"/>
            <a:ext cx="503992" cy="503992"/>
          </a:xfrm>
          <a:prstGeom prst="rect">
            <a:avLst/>
          </a:prstGeom>
        </p:spPr>
      </p:pic>
      <p:pic>
        <p:nvPicPr>
          <p:cNvPr id="25" name="Image 7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691557" y="5028962"/>
            <a:ext cx="226814" cy="226814"/>
          </a:xfrm>
          <a:prstGeom prst="rect">
            <a:avLst/>
          </a:prstGeom>
        </p:spPr>
      </p:pic>
      <p:sp>
        <p:nvSpPr>
          <p:cNvPr id="26" name="Text 16"/>
          <p:cNvSpPr/>
          <p:nvPr/>
        </p:nvSpPr>
        <p:spPr>
          <a:xfrm>
            <a:off x="7552968" y="5518785"/>
            <a:ext cx="2205157" cy="275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Customer</a:t>
            </a:r>
            <a:endParaRPr lang="en-US" sz="1700" dirty="0"/>
          </a:p>
        </p:txBody>
      </p:sp>
      <p:sp>
        <p:nvSpPr>
          <p:cNvPr id="27" name="Text 17"/>
          <p:cNvSpPr/>
          <p:nvPr/>
        </p:nvSpPr>
        <p:spPr>
          <a:xfrm>
            <a:off x="7552968" y="5869067"/>
            <a:ext cx="5383292" cy="4676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Approximately 50% retention at Day 30; loyalty is strong among Gold users but comparatively weaker for non-subscribers.</a:t>
            </a:r>
            <a:endParaRPr lang="en-US" sz="1300" dirty="0"/>
          </a:p>
        </p:txBody>
      </p:sp>
      <p:sp>
        <p:nvSpPr>
          <p:cNvPr id="28" name="Text 18"/>
          <p:cNvSpPr/>
          <p:nvPr/>
        </p:nvSpPr>
        <p:spPr>
          <a:xfrm>
            <a:off x="7552968" y="6411397"/>
            <a:ext cx="5383292" cy="4676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 price sensitivity means a shift to value perception rather than relying purely on discounts is crucial for sustained growth.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70059" y="1577697"/>
            <a:ext cx="761643" cy="217170"/>
          </a:xfrm>
          <a:prstGeom prst="roundRect">
            <a:avLst>
              <a:gd name="adj" fmla="val 20779"/>
            </a:avLst>
          </a:prstGeom>
          <a:solidFill>
            <a:srgbClr val="1C113B"/>
          </a:solidFill>
          <a:ln/>
        </p:spPr>
      </p:sp>
      <p:sp>
        <p:nvSpPr>
          <p:cNvPr id="4" name="Text 1"/>
          <p:cNvSpPr/>
          <p:nvPr/>
        </p:nvSpPr>
        <p:spPr>
          <a:xfrm>
            <a:off x="550545" y="1617940"/>
            <a:ext cx="600670" cy="136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8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CHAPTER 8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470059" y="1826657"/>
            <a:ext cx="4498658" cy="35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Understanding Customer Behavior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470059" y="2298383"/>
            <a:ext cx="8203883" cy="1127641"/>
          </a:xfrm>
          <a:prstGeom prst="roundRect">
            <a:avLst>
              <a:gd name="adj" fmla="val 6487"/>
            </a:avLst>
          </a:prstGeom>
          <a:solidFill>
            <a:srgbClr val="0C0524">
              <a:alpha val="95000"/>
            </a:srgbClr>
          </a:solidFill>
          <a:ln w="15240">
            <a:solidFill>
              <a:srgbClr val="48367C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4819" y="2298383"/>
            <a:ext cx="60960" cy="1127641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65321" y="2447925"/>
            <a:ext cx="1762720" cy="2203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Loyalty &amp; Retention </a:t>
            </a:r>
            <a:endParaRPr lang="en-US" sz="1350" dirty="0"/>
          </a:p>
        </p:txBody>
      </p:sp>
      <p:sp>
        <p:nvSpPr>
          <p:cNvPr id="9" name="Text 5"/>
          <p:cNvSpPr/>
          <p:nvPr/>
        </p:nvSpPr>
        <p:spPr>
          <a:xfrm>
            <a:off x="665321" y="2715935"/>
            <a:ext cx="7859077" cy="3419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Zomato Gold subscribers show significantly higher order frequency and average order value, boosting lifetime customer value.</a:t>
            </a:r>
            <a:endParaRPr lang="en-US" sz="1050" dirty="0"/>
          </a:p>
        </p:txBody>
      </p:sp>
      <p:sp>
        <p:nvSpPr>
          <p:cNvPr id="10" name="Text 6"/>
          <p:cNvSpPr/>
          <p:nvPr/>
        </p:nvSpPr>
        <p:spPr>
          <a:xfrm>
            <a:off x="665321" y="3105507"/>
            <a:ext cx="7859077" cy="1709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Retention rate ~ 40-50%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470059" y="3505438"/>
            <a:ext cx="8203883" cy="909042"/>
          </a:xfrm>
          <a:prstGeom prst="roundRect">
            <a:avLst>
              <a:gd name="adj" fmla="val 8047"/>
            </a:avLst>
          </a:prstGeom>
          <a:solidFill>
            <a:srgbClr val="0C0524">
              <a:alpha val="95000"/>
            </a:srgbClr>
          </a:solidFill>
          <a:ln w="15240">
            <a:solidFill>
              <a:srgbClr val="48367C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4819" y="3505438"/>
            <a:ext cx="60960" cy="90904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65321" y="3654981"/>
            <a:ext cx="3966091" cy="2203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Price Elasticity : 10–15% AOV driven by discounts</a:t>
            </a:r>
            <a:endParaRPr lang="en-US" sz="1350" dirty="0"/>
          </a:p>
        </p:txBody>
      </p:sp>
      <p:sp>
        <p:nvSpPr>
          <p:cNvPr id="14" name="Text 9"/>
          <p:cNvSpPr/>
          <p:nvPr/>
        </p:nvSpPr>
        <p:spPr>
          <a:xfrm>
            <a:off x="665321" y="3922990"/>
            <a:ext cx="7859077" cy="3419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Customers are highly responsive to promotions and free delivery, making discounts a double-edged sword for acquisition and margins.</a:t>
            </a:r>
            <a:endParaRPr lang="en-US" sz="1050" dirty="0"/>
          </a:p>
        </p:txBody>
      </p:sp>
      <p:sp>
        <p:nvSpPr>
          <p:cNvPr id="15" name="Shape 10"/>
          <p:cNvSpPr/>
          <p:nvPr/>
        </p:nvSpPr>
        <p:spPr>
          <a:xfrm>
            <a:off x="470059" y="4493895"/>
            <a:ext cx="8203883" cy="909042"/>
          </a:xfrm>
          <a:prstGeom prst="roundRect">
            <a:avLst>
              <a:gd name="adj" fmla="val 8047"/>
            </a:avLst>
          </a:prstGeom>
          <a:solidFill>
            <a:srgbClr val="0C0524">
              <a:alpha val="95000"/>
            </a:srgbClr>
          </a:solidFill>
          <a:ln w="15240">
            <a:solidFill>
              <a:srgbClr val="48367C"/>
            </a:solidFill>
            <a:prstDash val="solid"/>
          </a:ln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4819" y="4493895"/>
            <a:ext cx="60960" cy="909042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65321" y="4643438"/>
            <a:ext cx="1762720" cy="2203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Delivery Experience</a:t>
            </a:r>
            <a:endParaRPr lang="en-US" sz="1350" dirty="0"/>
          </a:p>
        </p:txBody>
      </p:sp>
      <p:sp>
        <p:nvSpPr>
          <p:cNvPr id="18" name="Text 12"/>
          <p:cNvSpPr/>
          <p:nvPr/>
        </p:nvSpPr>
        <p:spPr>
          <a:xfrm>
            <a:off x="665321" y="4911447"/>
            <a:ext cx="7859077" cy="3419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Timeliness and order accuracy are critical; delays over 35 minutes directly correlate with negative ratings and increased support costs.</a:t>
            </a:r>
            <a:endParaRPr lang="en-US" sz="1050" dirty="0"/>
          </a:p>
        </p:txBody>
      </p:sp>
      <p:sp>
        <p:nvSpPr>
          <p:cNvPr id="19" name="Shape 13"/>
          <p:cNvSpPr/>
          <p:nvPr/>
        </p:nvSpPr>
        <p:spPr>
          <a:xfrm>
            <a:off x="470059" y="5482352"/>
            <a:ext cx="8203883" cy="909042"/>
          </a:xfrm>
          <a:prstGeom prst="roundRect">
            <a:avLst>
              <a:gd name="adj" fmla="val 8047"/>
            </a:avLst>
          </a:prstGeom>
          <a:solidFill>
            <a:srgbClr val="0C0524">
              <a:alpha val="95000"/>
            </a:srgbClr>
          </a:solidFill>
          <a:ln w="15240">
            <a:solidFill>
              <a:srgbClr val="48367C"/>
            </a:solidFill>
            <a:prstDash val="solid"/>
          </a:ln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4819" y="5482352"/>
            <a:ext cx="60960" cy="909042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665321" y="5631894"/>
            <a:ext cx="1762720" cy="2203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Cross-Platform Usage</a:t>
            </a:r>
            <a:endParaRPr lang="en-US" sz="1350" dirty="0"/>
          </a:p>
        </p:txBody>
      </p:sp>
      <p:sp>
        <p:nvSpPr>
          <p:cNvPr id="22" name="Text 15"/>
          <p:cNvSpPr/>
          <p:nvPr/>
        </p:nvSpPr>
        <p:spPr>
          <a:xfrm>
            <a:off x="665321" y="5899904"/>
            <a:ext cx="7859077" cy="3419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growing segment of users leverages both Zomato (food) and Blinkit (quick commerce), indicating strong ecosystem stickiness.</a:t>
            </a:r>
            <a:endParaRPr lang="en-US" sz="1050" dirty="0"/>
          </a:p>
        </p:txBody>
      </p:sp>
      <p:sp>
        <p:nvSpPr>
          <p:cNvPr id="23" name="Text 16"/>
          <p:cNvSpPr/>
          <p:nvPr/>
        </p:nvSpPr>
        <p:spPr>
          <a:xfrm>
            <a:off x="470059" y="6480810"/>
            <a:ext cx="8203883" cy="1709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“The economics depend heavily on retaining high-frequency, subscription users while reducing ‘discount-only’ customers.”</a:t>
            </a:r>
            <a:endParaRPr lang="en-US" sz="10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4425" y="1295757"/>
            <a:ext cx="1019175" cy="313849"/>
          </a:xfrm>
          <a:prstGeom prst="roundRect">
            <a:avLst>
              <a:gd name="adj" fmla="val 19242"/>
            </a:avLst>
          </a:prstGeom>
          <a:solidFill>
            <a:srgbClr val="1C113B"/>
          </a:solidFill>
          <a:ln/>
        </p:spPr>
      </p:sp>
      <p:sp>
        <p:nvSpPr>
          <p:cNvPr id="3" name="Text 1"/>
          <p:cNvSpPr/>
          <p:nvPr/>
        </p:nvSpPr>
        <p:spPr>
          <a:xfrm>
            <a:off x="1222177" y="1349573"/>
            <a:ext cx="803672" cy="206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CHAPTER 8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114425" y="1666518"/>
            <a:ext cx="11694200" cy="5897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600"/>
              </a:lnSpc>
              <a:buNone/>
            </a:pPr>
            <a:r>
              <a:rPr lang="en-US" sz="370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Short-Term: Protect Margins While Preserving Growth</a:t>
            </a:r>
            <a:endParaRPr lang="en-US" sz="3700" dirty="0"/>
          </a:p>
        </p:txBody>
      </p:sp>
      <p:sp>
        <p:nvSpPr>
          <p:cNvPr id="5" name="Shape 3"/>
          <p:cNvSpPr/>
          <p:nvPr/>
        </p:nvSpPr>
        <p:spPr>
          <a:xfrm>
            <a:off x="1114425" y="2469832"/>
            <a:ext cx="6129457" cy="1951792"/>
          </a:xfrm>
          <a:prstGeom prst="roundRect">
            <a:avLst>
              <a:gd name="adj" fmla="val 3868"/>
            </a:avLst>
          </a:prstGeom>
          <a:solidFill>
            <a:srgbClr val="2F1D63"/>
          </a:solidFill>
          <a:ln w="7620">
            <a:solidFill>
              <a:srgbClr val="48367C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01710" y="2657118"/>
            <a:ext cx="539115" cy="53911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49943" y="2805351"/>
            <a:ext cx="242530" cy="24253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301710" y="3338632"/>
            <a:ext cx="2358866" cy="294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Targeted Discounts</a:t>
            </a:r>
            <a:endParaRPr lang="en-US" sz="1850" dirty="0"/>
          </a:p>
        </p:txBody>
      </p:sp>
      <p:sp>
        <p:nvSpPr>
          <p:cNvPr id="9" name="Text 5"/>
          <p:cNvSpPr/>
          <p:nvPr/>
        </p:nvSpPr>
        <p:spPr>
          <a:xfrm>
            <a:off x="1301710" y="3718798"/>
            <a:ext cx="5754886" cy="515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Transition from blanket promotions to specific, data-driven offers to improve profitability without sacrificing growth.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7386280" y="2469832"/>
            <a:ext cx="6129576" cy="1951792"/>
          </a:xfrm>
          <a:prstGeom prst="roundRect">
            <a:avLst>
              <a:gd name="adj" fmla="val 3868"/>
            </a:avLst>
          </a:prstGeom>
          <a:solidFill>
            <a:srgbClr val="2F1D63"/>
          </a:solidFill>
          <a:ln w="7620">
            <a:solidFill>
              <a:srgbClr val="48367C"/>
            </a:solidFill>
            <a:prstDash val="solid"/>
          </a:ln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73566" y="2657118"/>
            <a:ext cx="539115" cy="539115"/>
          </a:xfrm>
          <a:prstGeom prst="rect">
            <a:avLst/>
          </a:prstGeom>
        </p:spPr>
      </p:pic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721798" y="2805351"/>
            <a:ext cx="242530" cy="24253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7573566" y="3338632"/>
            <a:ext cx="2961918" cy="294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Optimize Delivery Logistics</a:t>
            </a:r>
            <a:endParaRPr lang="en-US" sz="1850" dirty="0"/>
          </a:p>
        </p:txBody>
      </p:sp>
      <p:sp>
        <p:nvSpPr>
          <p:cNvPr id="14" name="Text 8"/>
          <p:cNvSpPr/>
          <p:nvPr/>
        </p:nvSpPr>
        <p:spPr>
          <a:xfrm>
            <a:off x="7573566" y="3718798"/>
            <a:ext cx="5755005" cy="515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Implement advanced AI for order batching and dynamic zoning to significantly reduce per-order delivery costs.</a:t>
            </a:r>
            <a:endParaRPr lang="en-US" sz="1400" dirty="0"/>
          </a:p>
        </p:txBody>
      </p:sp>
      <p:sp>
        <p:nvSpPr>
          <p:cNvPr id="15" name="Shape 9"/>
          <p:cNvSpPr/>
          <p:nvPr/>
        </p:nvSpPr>
        <p:spPr>
          <a:xfrm>
            <a:off x="1114425" y="4564023"/>
            <a:ext cx="6129457" cy="1951792"/>
          </a:xfrm>
          <a:prstGeom prst="roundRect">
            <a:avLst>
              <a:gd name="adj" fmla="val 3868"/>
            </a:avLst>
          </a:prstGeom>
          <a:solidFill>
            <a:srgbClr val="2F1D63"/>
          </a:solidFill>
          <a:ln w="7620">
            <a:solidFill>
              <a:srgbClr val="48367C"/>
            </a:solidFill>
            <a:prstDash val="solid"/>
          </a:ln>
        </p:spPr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01710" y="4751308"/>
            <a:ext cx="539115" cy="539115"/>
          </a:xfrm>
          <a:prstGeom prst="rect">
            <a:avLst/>
          </a:prstGeom>
        </p:spPr>
      </p:pic>
      <p:pic>
        <p:nvPicPr>
          <p:cNvPr id="17" name="Image 5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449943" y="4899541"/>
            <a:ext cx="242530" cy="242530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1301710" y="5432822"/>
            <a:ext cx="3892153" cy="294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Enhance Average Order Value (AOV)</a:t>
            </a:r>
            <a:endParaRPr lang="en-US" sz="1850" dirty="0"/>
          </a:p>
        </p:txBody>
      </p:sp>
      <p:sp>
        <p:nvSpPr>
          <p:cNvPr id="19" name="Text 11"/>
          <p:cNvSpPr/>
          <p:nvPr/>
        </p:nvSpPr>
        <p:spPr>
          <a:xfrm>
            <a:off x="1301710" y="5812988"/>
            <a:ext cx="5754886" cy="515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Introduce strategic bundles, compelling add-ons, and seamless in-app upsell features to boost customer spend.</a:t>
            </a:r>
            <a:endParaRPr lang="en-US" sz="1400" dirty="0"/>
          </a:p>
        </p:txBody>
      </p:sp>
      <p:sp>
        <p:nvSpPr>
          <p:cNvPr id="20" name="Shape 12"/>
          <p:cNvSpPr/>
          <p:nvPr/>
        </p:nvSpPr>
        <p:spPr>
          <a:xfrm>
            <a:off x="7386280" y="4564023"/>
            <a:ext cx="6129576" cy="1951792"/>
          </a:xfrm>
          <a:prstGeom prst="roundRect">
            <a:avLst>
              <a:gd name="adj" fmla="val 3868"/>
            </a:avLst>
          </a:prstGeom>
          <a:solidFill>
            <a:srgbClr val="2F1D63"/>
          </a:solidFill>
          <a:ln w="7620">
            <a:solidFill>
              <a:srgbClr val="48367C"/>
            </a:solidFill>
            <a:prstDash val="solid"/>
          </a:ln>
        </p:spPr>
      </p:sp>
      <p:pic>
        <p:nvPicPr>
          <p:cNvPr id="21" name="Image 6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573566" y="4751308"/>
            <a:ext cx="539115" cy="539115"/>
          </a:xfrm>
          <a:prstGeom prst="rect">
            <a:avLst/>
          </a:prstGeom>
        </p:spPr>
      </p:pic>
      <p:pic>
        <p:nvPicPr>
          <p:cNvPr id="22" name="Image 7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721798" y="4899541"/>
            <a:ext cx="242530" cy="242530"/>
          </a:xfrm>
          <a:prstGeom prst="rect">
            <a:avLst/>
          </a:prstGeom>
        </p:spPr>
      </p:pic>
      <p:sp>
        <p:nvSpPr>
          <p:cNvPr id="23" name="Text 13"/>
          <p:cNvSpPr/>
          <p:nvPr/>
        </p:nvSpPr>
        <p:spPr>
          <a:xfrm>
            <a:off x="7573566" y="5432822"/>
            <a:ext cx="3731181" cy="294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Strategic Restaurant Commissions</a:t>
            </a:r>
            <a:endParaRPr lang="en-US" sz="1850" dirty="0"/>
          </a:p>
        </p:txBody>
      </p:sp>
      <p:sp>
        <p:nvSpPr>
          <p:cNvPr id="24" name="Text 14"/>
          <p:cNvSpPr/>
          <p:nvPr/>
        </p:nvSpPr>
        <p:spPr>
          <a:xfrm>
            <a:off x="7573566" y="5812988"/>
            <a:ext cx="5755005" cy="515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Explore incremental commission adjustments with top-tier restaurant partners, guided by performance data.</a:t>
            </a:r>
            <a:endParaRPr lang="en-US" sz="1400" dirty="0"/>
          </a:p>
        </p:txBody>
      </p:sp>
      <p:sp>
        <p:nvSpPr>
          <p:cNvPr id="25" name="Text 15"/>
          <p:cNvSpPr/>
          <p:nvPr/>
        </p:nvSpPr>
        <p:spPr>
          <a:xfrm>
            <a:off x="1114425" y="6675953"/>
            <a:ext cx="12401431" cy="2577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Focus on these levers will stabilize unit economics in the immediate future, laying groundwork for sustained profitability.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8324" y="1155740"/>
            <a:ext cx="1058228" cy="329565"/>
          </a:xfrm>
          <a:prstGeom prst="roundRect">
            <a:avLst>
              <a:gd name="adj" fmla="val 19022"/>
            </a:avLst>
          </a:prstGeom>
          <a:solidFill>
            <a:srgbClr val="1C113B"/>
          </a:solidFill>
          <a:ln/>
        </p:spPr>
      </p:sp>
      <p:sp>
        <p:nvSpPr>
          <p:cNvPr id="3" name="Text 1"/>
          <p:cNvSpPr/>
          <p:nvPr/>
        </p:nvSpPr>
        <p:spPr>
          <a:xfrm>
            <a:off x="990243" y="1211699"/>
            <a:ext cx="834390" cy="2176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CHAPTER 8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878324" y="1546622"/>
            <a:ext cx="10028277" cy="612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00"/>
              </a:lnSpc>
              <a:buNone/>
            </a:pPr>
            <a:r>
              <a:rPr lang="en-US" sz="385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Medium to Long Term: Build Profitable Scale</a:t>
            </a:r>
            <a:endParaRPr lang="en-US" sz="3850" dirty="0"/>
          </a:p>
        </p:txBody>
      </p:sp>
      <p:sp>
        <p:nvSpPr>
          <p:cNvPr id="5" name="Shape 3"/>
          <p:cNvSpPr/>
          <p:nvPr/>
        </p:nvSpPr>
        <p:spPr>
          <a:xfrm>
            <a:off x="878324" y="2388870"/>
            <a:ext cx="6360081" cy="2043470"/>
          </a:xfrm>
          <a:prstGeom prst="roundRect">
            <a:avLst>
              <a:gd name="adj" fmla="val 3835"/>
            </a:avLst>
          </a:prstGeom>
          <a:solidFill>
            <a:srgbClr val="2F1D63"/>
          </a:solidFill>
          <a:ln w="7620">
            <a:solidFill>
              <a:srgbClr val="48367C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2515" y="2583061"/>
            <a:ext cx="559713" cy="559713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26463" y="2736890"/>
            <a:ext cx="251817" cy="251817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72515" y="3296126"/>
            <a:ext cx="2448758" cy="3061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Scale Zomato Gold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1072515" y="3694271"/>
            <a:ext cx="5971699" cy="5438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Leverage personalised benefits to deepen customer loyalty and increase order frequency, maximizing lifetime value.</a:t>
            </a:r>
            <a:endParaRPr lang="en-US" sz="1450" dirty="0"/>
          </a:p>
        </p:txBody>
      </p:sp>
      <p:sp>
        <p:nvSpPr>
          <p:cNvPr id="10" name="Shape 6"/>
          <p:cNvSpPr/>
          <p:nvPr/>
        </p:nvSpPr>
        <p:spPr>
          <a:xfrm>
            <a:off x="7391757" y="2388870"/>
            <a:ext cx="6360200" cy="2043470"/>
          </a:xfrm>
          <a:prstGeom prst="roundRect">
            <a:avLst>
              <a:gd name="adj" fmla="val 3835"/>
            </a:avLst>
          </a:prstGeom>
          <a:solidFill>
            <a:srgbClr val="2F1D63"/>
          </a:solidFill>
          <a:ln w="7620">
            <a:solidFill>
              <a:srgbClr val="48367C"/>
            </a:solidFill>
            <a:prstDash val="solid"/>
          </a:ln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5948" y="2583061"/>
            <a:ext cx="559713" cy="559713"/>
          </a:xfrm>
          <a:prstGeom prst="rect">
            <a:avLst/>
          </a:prstGeom>
        </p:spPr>
      </p:pic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739896" y="2736890"/>
            <a:ext cx="251817" cy="251817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7585948" y="3296126"/>
            <a:ext cx="4378166" cy="3061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Expand Dark Kitchens &amp; Private Labels</a:t>
            </a:r>
            <a:endParaRPr lang="en-US" sz="1900" dirty="0"/>
          </a:p>
        </p:txBody>
      </p:sp>
      <p:sp>
        <p:nvSpPr>
          <p:cNvPr id="14" name="Text 8"/>
          <p:cNvSpPr/>
          <p:nvPr/>
        </p:nvSpPr>
        <p:spPr>
          <a:xfrm>
            <a:off x="7585948" y="3694271"/>
            <a:ext cx="5971818" cy="5438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Strategically grow proprietary dark kitchens and private-label brands in high-demand micro-markets to capture higher margins.</a:t>
            </a:r>
            <a:endParaRPr lang="en-US" sz="1450" dirty="0"/>
          </a:p>
        </p:txBody>
      </p:sp>
      <p:sp>
        <p:nvSpPr>
          <p:cNvPr id="15" name="Shape 9"/>
          <p:cNvSpPr/>
          <p:nvPr/>
        </p:nvSpPr>
        <p:spPr>
          <a:xfrm>
            <a:off x="878324" y="4585692"/>
            <a:ext cx="6360081" cy="2043470"/>
          </a:xfrm>
          <a:prstGeom prst="roundRect">
            <a:avLst>
              <a:gd name="adj" fmla="val 3835"/>
            </a:avLst>
          </a:prstGeom>
          <a:solidFill>
            <a:srgbClr val="2F1D63"/>
          </a:solidFill>
          <a:ln w="7620">
            <a:solidFill>
              <a:srgbClr val="48367C"/>
            </a:solidFill>
            <a:prstDash val="solid"/>
          </a:ln>
        </p:spPr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72515" y="4779883"/>
            <a:ext cx="559713" cy="559713"/>
          </a:xfrm>
          <a:prstGeom prst="rect">
            <a:avLst/>
          </a:prstGeom>
        </p:spPr>
      </p:pic>
      <p:pic>
        <p:nvPicPr>
          <p:cNvPr id="17" name="Image 5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226463" y="4933712"/>
            <a:ext cx="251817" cy="251817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1072515" y="5492948"/>
            <a:ext cx="3180398" cy="3061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Implement Dynamic Pricing</a:t>
            </a:r>
            <a:endParaRPr lang="en-US" sz="1900" dirty="0"/>
          </a:p>
        </p:txBody>
      </p:sp>
      <p:sp>
        <p:nvSpPr>
          <p:cNvPr id="19" name="Text 11"/>
          <p:cNvSpPr/>
          <p:nvPr/>
        </p:nvSpPr>
        <p:spPr>
          <a:xfrm>
            <a:off x="1072515" y="5891093"/>
            <a:ext cx="5971699" cy="5438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Utilize time-of-day and demand-based pricing models to efficiently manage order load and optimize profit margins.</a:t>
            </a:r>
            <a:endParaRPr lang="en-US" sz="1450" dirty="0"/>
          </a:p>
        </p:txBody>
      </p:sp>
      <p:sp>
        <p:nvSpPr>
          <p:cNvPr id="20" name="Shape 12"/>
          <p:cNvSpPr/>
          <p:nvPr/>
        </p:nvSpPr>
        <p:spPr>
          <a:xfrm>
            <a:off x="7391757" y="4585692"/>
            <a:ext cx="6360200" cy="2043470"/>
          </a:xfrm>
          <a:prstGeom prst="roundRect">
            <a:avLst>
              <a:gd name="adj" fmla="val 3835"/>
            </a:avLst>
          </a:prstGeom>
          <a:solidFill>
            <a:srgbClr val="2F1D63"/>
          </a:solidFill>
          <a:ln w="7620">
            <a:solidFill>
              <a:srgbClr val="48367C"/>
            </a:solidFill>
            <a:prstDash val="solid"/>
          </a:ln>
        </p:spPr>
      </p:sp>
      <p:pic>
        <p:nvPicPr>
          <p:cNvPr id="21" name="Image 6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585948" y="4779883"/>
            <a:ext cx="559713" cy="559713"/>
          </a:xfrm>
          <a:prstGeom prst="rect">
            <a:avLst/>
          </a:prstGeom>
        </p:spPr>
      </p:pic>
      <p:pic>
        <p:nvPicPr>
          <p:cNvPr id="22" name="Image 7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739896" y="4933712"/>
            <a:ext cx="251817" cy="251817"/>
          </a:xfrm>
          <a:prstGeom prst="rect">
            <a:avLst/>
          </a:prstGeom>
        </p:spPr>
      </p:pic>
      <p:sp>
        <p:nvSpPr>
          <p:cNvPr id="23" name="Text 13"/>
          <p:cNvSpPr/>
          <p:nvPr/>
        </p:nvSpPr>
        <p:spPr>
          <a:xfrm>
            <a:off x="7585948" y="5492948"/>
            <a:ext cx="2926080" cy="3061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Invest in Automation &amp; AI</a:t>
            </a:r>
            <a:endParaRPr lang="en-US" sz="1900" dirty="0"/>
          </a:p>
        </p:txBody>
      </p:sp>
      <p:sp>
        <p:nvSpPr>
          <p:cNvPr id="24" name="Text 14"/>
          <p:cNvSpPr/>
          <p:nvPr/>
        </p:nvSpPr>
        <p:spPr>
          <a:xfrm>
            <a:off x="7585948" y="5891093"/>
            <a:ext cx="5971818" cy="5438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Develop advanced AI for routing and supply-demand forecasting to ensure cost per order remains flat as transaction volumes grow.</a:t>
            </a:r>
            <a:endParaRPr lang="en-US" sz="1450" dirty="0"/>
          </a:p>
        </p:txBody>
      </p:sp>
      <p:sp>
        <p:nvSpPr>
          <p:cNvPr id="25" name="Text 15"/>
          <p:cNvSpPr/>
          <p:nvPr/>
        </p:nvSpPr>
        <p:spPr>
          <a:xfrm>
            <a:off x="878324" y="6801803"/>
            <a:ext cx="12873633" cy="271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These long-term strategies focus on creating sustainable competitive advantages and unlocking new avenues for revenue and efficiency.</a:t>
            </a:r>
            <a:endParaRPr lang="en-US" sz="14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01993" y="1121212"/>
            <a:ext cx="1086803" cy="341114"/>
          </a:xfrm>
          <a:prstGeom prst="roundRect">
            <a:avLst>
              <a:gd name="adj" fmla="val 18881"/>
            </a:avLst>
          </a:prstGeom>
          <a:solidFill>
            <a:srgbClr val="1C113B"/>
          </a:solidFill>
          <a:ln/>
        </p:spPr>
      </p:sp>
      <p:sp>
        <p:nvSpPr>
          <p:cNvPr id="3" name="Text 1"/>
          <p:cNvSpPr/>
          <p:nvPr/>
        </p:nvSpPr>
        <p:spPr>
          <a:xfrm>
            <a:off x="816888" y="1178600"/>
            <a:ext cx="857012" cy="2263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2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CHAPTER 8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01993" y="1527096"/>
            <a:ext cx="8877181" cy="628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950"/>
              </a:lnSpc>
              <a:buNone/>
            </a:pPr>
            <a:r>
              <a:rPr lang="en-US" sz="395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Phased Execution and Success Metrics</a:t>
            </a:r>
            <a:endParaRPr lang="en-US" sz="3950" dirty="0"/>
          </a:p>
        </p:txBody>
      </p:sp>
      <p:sp>
        <p:nvSpPr>
          <p:cNvPr id="5" name="Text 3"/>
          <p:cNvSpPr/>
          <p:nvPr/>
        </p:nvSpPr>
        <p:spPr>
          <a:xfrm>
            <a:off x="701993" y="2560796"/>
            <a:ext cx="2515791" cy="3144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Phase 1 (0–6 months)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701993" y="3037165"/>
            <a:ext cx="6379250" cy="2828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Actions: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01993" y="3465790"/>
            <a:ext cx="6379250" cy="962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200"/>
              </a:lnSpc>
              <a:buSzPct val="100000"/>
              <a:buChar char="•"/>
            </a:pPr>
            <a:r>
              <a:rPr lang="en-US" sz="15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Discount clean-up initiative.</a:t>
            </a:r>
            <a:endParaRPr lang="en-US" sz="1500" dirty="0"/>
          </a:p>
          <a:p>
            <a:pPr algn="l" marL="342900" indent="-342900">
              <a:lnSpc>
                <a:spcPts val="2200"/>
              </a:lnSpc>
              <a:buSzPct val="100000"/>
              <a:buChar char="•"/>
            </a:pPr>
            <a:r>
              <a:rPr lang="en-US" sz="15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Batching optimisation efforts.</a:t>
            </a:r>
            <a:endParaRPr lang="en-US" sz="1500" dirty="0"/>
          </a:p>
          <a:p>
            <a:pPr algn="l" marL="342900" indent="-342900">
              <a:lnSpc>
                <a:spcPts val="2200"/>
              </a:lnSpc>
              <a:buSzPct val="100000"/>
              <a:buChar char="•"/>
            </a:pPr>
            <a:r>
              <a:rPr lang="en-US" sz="15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AOV-focused experiments.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01993" y="4573548"/>
            <a:ext cx="6379250" cy="2828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KPIs: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01993" y="5002173"/>
            <a:ext cx="6379250" cy="13015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200"/>
              </a:lnSpc>
              <a:buSzPct val="100000"/>
              <a:buChar char="•"/>
            </a:pPr>
            <a:r>
              <a:rPr lang="en-US" sz="15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Contribution margin per order.</a:t>
            </a:r>
            <a:endParaRPr lang="en-US" sz="1500" dirty="0"/>
          </a:p>
          <a:p>
            <a:pPr algn="l" marL="342900" indent="-342900">
              <a:lnSpc>
                <a:spcPts val="2200"/>
              </a:lnSpc>
              <a:buSzPct val="100000"/>
              <a:buChar char="•"/>
            </a:pPr>
            <a:r>
              <a:rPr lang="en-US" sz="15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Discount % of Average Order Value (AOV).</a:t>
            </a:r>
            <a:endParaRPr lang="en-US" sz="1500" dirty="0"/>
          </a:p>
          <a:p>
            <a:pPr algn="l" marL="342900" indent="-342900">
              <a:lnSpc>
                <a:spcPts val="2200"/>
              </a:lnSpc>
              <a:buSzPct val="100000"/>
              <a:buChar char="•"/>
            </a:pPr>
            <a:r>
              <a:rPr lang="en-US" sz="15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On-time delivery %.</a:t>
            </a:r>
            <a:endParaRPr lang="en-US" sz="1500" dirty="0"/>
          </a:p>
          <a:p>
            <a:pPr algn="l" marL="342900" indent="-342900">
              <a:lnSpc>
                <a:spcPts val="2200"/>
              </a:lnSpc>
              <a:buSzPct val="100000"/>
              <a:buChar char="•"/>
            </a:pPr>
            <a:r>
              <a:rPr lang="en-US" sz="15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Batch share of orders.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556540" y="2560796"/>
            <a:ext cx="2642592" cy="3144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Phase 2 (6–24 months)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7556540" y="3037165"/>
            <a:ext cx="6379250" cy="2828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Actions: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556540" y="3465790"/>
            <a:ext cx="6379250" cy="962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200"/>
              </a:lnSpc>
              <a:buSzPct val="100000"/>
              <a:buChar char="•"/>
            </a:pPr>
            <a:r>
              <a:rPr lang="en-US" sz="15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Aggressive Zomato Gold user acquisition and retention.</a:t>
            </a:r>
            <a:endParaRPr lang="en-US" sz="1500" dirty="0"/>
          </a:p>
          <a:p>
            <a:pPr algn="l" marL="342900" indent="-342900">
              <a:lnSpc>
                <a:spcPts val="2200"/>
              </a:lnSpc>
              <a:buSzPct val="100000"/>
              <a:buChar char="•"/>
            </a:pPr>
            <a:r>
              <a:rPr lang="en-US" sz="15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Scaling of dark kitchens and private labels.</a:t>
            </a:r>
            <a:endParaRPr lang="en-US" sz="1500" dirty="0"/>
          </a:p>
          <a:p>
            <a:pPr algn="l" marL="342900" indent="-342900">
              <a:lnSpc>
                <a:spcPts val="2200"/>
              </a:lnSpc>
              <a:buSzPct val="100000"/>
              <a:buChar char="•"/>
            </a:pPr>
            <a:r>
              <a:rPr lang="en-US" sz="15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Advanced routing and dynamic pricing implementation.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556540" y="4573548"/>
            <a:ext cx="6379250" cy="2828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KPIs: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556540" y="5002173"/>
            <a:ext cx="6379250" cy="13015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200"/>
              </a:lnSpc>
              <a:buSzPct val="100000"/>
              <a:buChar char="•"/>
            </a:pPr>
            <a:r>
              <a:rPr lang="en-US" sz="15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Orders per user per month.</a:t>
            </a:r>
            <a:endParaRPr lang="en-US" sz="1500" dirty="0"/>
          </a:p>
          <a:p>
            <a:pPr algn="l" marL="342900" indent="-342900">
              <a:lnSpc>
                <a:spcPts val="2200"/>
              </a:lnSpc>
              <a:buSzPct val="100000"/>
              <a:buChar char="•"/>
            </a:pPr>
            <a:r>
              <a:rPr lang="en-US" sz="15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Gold subscription penetration rate.</a:t>
            </a:r>
            <a:endParaRPr lang="en-US" sz="1500" dirty="0"/>
          </a:p>
          <a:p>
            <a:pPr algn="l" marL="342900" indent="-342900">
              <a:lnSpc>
                <a:spcPts val="2200"/>
              </a:lnSpc>
              <a:buSzPct val="100000"/>
              <a:buChar char="•"/>
            </a:pPr>
            <a:r>
              <a:rPr lang="en-US" sz="15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Blinkit &amp; Hyperpure margin trajectory.</a:t>
            </a:r>
            <a:endParaRPr lang="en-US" sz="1500" dirty="0"/>
          </a:p>
          <a:p>
            <a:pPr algn="l" marL="342900" indent="-342900">
              <a:lnSpc>
                <a:spcPts val="2200"/>
              </a:lnSpc>
              <a:buSzPct val="100000"/>
              <a:buChar char="•"/>
            </a:pPr>
            <a:r>
              <a:rPr lang="en-US" sz="15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Overall EBITDA margin.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01993" y="6542603"/>
            <a:ext cx="13226296" cy="5657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“By systematically addressing each bucket – revenue, cost, operations, and customer – Zomato can move from high growth with fragile profits to a structurally profitable, multi-vertical food-tech leader.”</a:t>
            </a:r>
            <a:endParaRPr lang="en-US" sz="15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523762" y="497800"/>
            <a:ext cx="951667" cy="287417"/>
          </a:xfrm>
          <a:prstGeom prst="roundRect">
            <a:avLst>
              <a:gd name="adj" fmla="val 19624"/>
            </a:avLst>
          </a:prstGeom>
          <a:solidFill>
            <a:srgbClr val="1C113B"/>
          </a:solidFill>
          <a:ln/>
        </p:spPr>
      </p:sp>
      <p:sp>
        <p:nvSpPr>
          <p:cNvPr id="3" name="Text 1"/>
          <p:cNvSpPr/>
          <p:nvPr/>
        </p:nvSpPr>
        <p:spPr>
          <a:xfrm>
            <a:off x="1624370" y="548045"/>
            <a:ext cx="750451" cy="186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CHAPTER 8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523762" y="834866"/>
            <a:ext cx="5938837" cy="440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275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Future Outlook &amp; Strategic Priorities</a:t>
            </a:r>
            <a:endParaRPr lang="en-US" sz="27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3762" y="1461849"/>
            <a:ext cx="11582757" cy="5662970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51247" y="4476017"/>
            <a:ext cx="361620" cy="36162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798048" y="1909286"/>
            <a:ext cx="2499341" cy="337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Mature Blinkit</a:t>
            </a:r>
            <a:endParaRPr lang="en-US" sz="2100" dirty="0"/>
          </a:p>
        </p:txBody>
      </p:sp>
      <p:sp>
        <p:nvSpPr>
          <p:cNvPr id="8" name="Text 4"/>
          <p:cNvSpPr/>
          <p:nvPr/>
        </p:nvSpPr>
        <p:spPr>
          <a:xfrm>
            <a:off x="1798048" y="2338654"/>
            <a:ext cx="2499341" cy="671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6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Scale quick commerce capabilities and profitability</a:t>
            </a:r>
            <a:endParaRPr lang="en-US" sz="16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572393" y="4476017"/>
            <a:ext cx="361620" cy="36162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0323192" y="1909286"/>
            <a:ext cx="2499341" cy="6756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Customer Experience</a:t>
            </a:r>
            <a:endParaRPr lang="en-US" sz="2100" dirty="0"/>
          </a:p>
        </p:txBody>
      </p:sp>
      <p:sp>
        <p:nvSpPr>
          <p:cNvPr id="11" name="Text 6"/>
          <p:cNvSpPr/>
          <p:nvPr/>
        </p:nvSpPr>
        <p:spPr>
          <a:xfrm>
            <a:off x="10323192" y="2676499"/>
            <a:ext cx="2499341" cy="44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6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Enhance service, speed, and satisfaction</a:t>
            </a:r>
            <a:endParaRPr lang="en-US" sz="16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693540" y="4476017"/>
            <a:ext cx="361619" cy="36162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798048" y="4888403"/>
            <a:ext cx="2499341" cy="6756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Inventory Ownership</a:t>
            </a:r>
            <a:endParaRPr lang="en-US" sz="2100" dirty="0"/>
          </a:p>
        </p:txBody>
      </p:sp>
      <p:sp>
        <p:nvSpPr>
          <p:cNvPr id="14" name="Text 8"/>
          <p:cNvSpPr/>
          <p:nvPr/>
        </p:nvSpPr>
        <p:spPr>
          <a:xfrm>
            <a:off x="1798048" y="5655616"/>
            <a:ext cx="2499341" cy="4476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6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Control stock to boost availability and margins</a:t>
            </a:r>
            <a:endParaRPr lang="en-US" sz="160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826125" y="4476017"/>
            <a:ext cx="361621" cy="36162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0311573" y="4888403"/>
            <a:ext cx="2499340" cy="337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20% GOV Growth</a:t>
            </a:r>
            <a:endParaRPr lang="en-US" sz="2100" dirty="0"/>
          </a:p>
        </p:txBody>
      </p:sp>
      <p:sp>
        <p:nvSpPr>
          <p:cNvPr id="17" name="Text 10"/>
          <p:cNvSpPr/>
          <p:nvPr/>
        </p:nvSpPr>
        <p:spPr>
          <a:xfrm>
            <a:off x="10311573" y="5317771"/>
            <a:ext cx="2499340" cy="671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6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Drive gross order value through market expansion</a:t>
            </a:r>
            <a:endParaRPr lang="en-US" sz="1600" dirty="0"/>
          </a:p>
        </p:txBody>
      </p:sp>
      <p:sp>
        <p:nvSpPr>
          <p:cNvPr id="18" name="Text 11"/>
          <p:cNvSpPr/>
          <p:nvPr/>
        </p:nvSpPr>
        <p:spPr>
          <a:xfrm>
            <a:off x="1523762" y="7264479"/>
            <a:ext cx="11582757" cy="467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Zomato is poised to build on its profitability by strategically enhancing its quick commerce segment, optimizing operations, and expanding its market reach through innovative solutions.</a:t>
            </a:r>
            <a:endParaRPr lang="en-US" sz="13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10922"/>
            <a:ext cx="6922889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850"/>
              </a:lnSpc>
              <a:buNone/>
            </a:pPr>
            <a:r>
              <a:rPr lang="en-US" sz="465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What should Zomato do ?</a:t>
            </a:r>
            <a:endParaRPr lang="en-US" sz="4650" dirty="0"/>
          </a:p>
        </p:txBody>
      </p:sp>
      <p:sp>
        <p:nvSpPr>
          <p:cNvPr id="3" name="Text 1"/>
          <p:cNvSpPr/>
          <p:nvPr/>
        </p:nvSpPr>
        <p:spPr>
          <a:xfrm>
            <a:off x="793790" y="1999417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3790" y="2566392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3133368"/>
            <a:ext cx="6244709" cy="16894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Font typeface="+mj-lt"/>
              <a:buAutoNum type="arabicPeriod" startAt="1"/>
            </a:pPr>
            <a:r>
              <a:rPr lang="en-US" sz="1750" b="1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Reduce blanket discounting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Font typeface="+mj-lt"/>
              <a:buAutoNum type="arabicPeriod" startAt="2"/>
            </a:pPr>
            <a:r>
              <a:rPr lang="en-US" sz="1750" b="1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Increase batching efficiency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Font typeface="+mj-lt"/>
              <a:buAutoNum type="arabicPeriod" startAt="3"/>
            </a:pPr>
            <a:r>
              <a:rPr lang="en-US" sz="1750" b="1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Implement strategic restaurant commissions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Font typeface="+mj-lt"/>
              <a:buAutoNum type="arabicPeriod" startAt="4"/>
            </a:pPr>
            <a:r>
              <a:rPr lang="en-US" sz="1750" b="1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Focus on high margin segments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5026938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endParaRPr lang="en-US" sz="175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15300" y="2050494"/>
            <a:ext cx="5213032" cy="5213033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234916" y="1249561"/>
            <a:ext cx="1158359" cy="306110"/>
          </a:xfrm>
          <a:prstGeom prst="roundRect">
            <a:avLst>
              <a:gd name="adj" fmla="val 19345"/>
            </a:avLst>
          </a:prstGeom>
          <a:solidFill>
            <a:srgbClr val="1C113B"/>
          </a:solidFill>
          <a:ln/>
        </p:spPr>
      </p:sp>
      <p:sp>
        <p:nvSpPr>
          <p:cNvPr id="3" name="Text 1"/>
          <p:cNvSpPr/>
          <p:nvPr/>
        </p:nvSpPr>
        <p:spPr>
          <a:xfrm>
            <a:off x="1340644" y="1302425"/>
            <a:ext cx="946904" cy="2003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CONCLUSION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234916" y="1610439"/>
            <a:ext cx="7062073" cy="4625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290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Zomato’s Path to Sustainable Profitability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1234916" y="2471499"/>
            <a:ext cx="3976807" cy="1502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FY25 profitability milestone validates Zomato's strategic pivot from "growth at all costs" to a balanced economic model. This achievement underscores the effectiveness of their diversified portfolio and operational discipline.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1234916" y="4097060"/>
            <a:ext cx="3976807" cy="10015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While significant challenges remain, including competitive pressures, margin management, and ecosystem alignment, Zomato is well-positioned for long-term value creation.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234916" y="5221843"/>
            <a:ext cx="3976807" cy="15650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700" b="1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Call to Action:</a:t>
            </a:r>
            <a:pPr algn="l" indent="0" marL="0">
              <a:lnSpc>
                <a:spcPts val="2450"/>
              </a:lnSpc>
              <a:buNone/>
            </a:pPr>
            <a:r>
              <a:rPr lang="en-US" sz="17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Leverage these insights to advise on strategic investments and partnership opportunities with Zomato, fostering mutual growth and market leadership.</a:t>
            </a:r>
            <a:endParaRPr lang="en-US" sz="17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49158" y="2432328"/>
            <a:ext cx="7753826" cy="439376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2026-04-04T08:35:32Z</dcterms:created>
  <dcterms:modified xsi:type="dcterms:W3CDTF">2026-04-04T08:35:32Z</dcterms:modified>
</cp:coreProperties>
</file>